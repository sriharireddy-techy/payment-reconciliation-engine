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430887"/>
          </a:xfrm>
          <a:prstGeom prst="rect">
            <a:avLst/>
          </a:prstGeom>
          <a:noFill/>
        </p:spPr>
        <p:txBody>
          <a:bodyPr wrap="square" lIns="0" tIns="0" rIns="0" bIns="0" anchor="t">
            <a:spAutoFit/>
          </a:bodyPr>
          <a:lstStyle/>
          <a:p>
            <a:r>
              <a:rPr sz="2800" b="1" i="0" dirty="0">
                <a:solidFill>
                  <a:srgbClr val="14233F"/>
                </a:solidFill>
                <a:latin typeface="Cambria"/>
              </a:rPr>
              <a:t>Introduction</a:t>
            </a:r>
            <a:r>
              <a:rPr lang="en-IN" sz="2800" b="1" i="0" dirty="0">
                <a:solidFill>
                  <a:srgbClr val="14233F"/>
                </a:solidFill>
                <a:latin typeface="Cambria"/>
              </a:rPr>
              <a:t>                                                 </a:t>
            </a:r>
            <a:endParaRPr sz="2800" b="1" i="0" dirty="0">
              <a:solidFill>
                <a:srgbClr val="14233F"/>
              </a:solidFill>
              <a:latin typeface="Cambria"/>
            </a:endParaRP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a:t>
            </a:r>
          </a:p>
        </p:txBody>
      </p:sp>
      <p:sp>
        <p:nvSpPr>
          <p:cNvPr id="5" name="TextBox 4"/>
          <p:cNvSpPr txBox="1"/>
          <p:nvPr/>
        </p:nvSpPr>
        <p:spPr>
          <a:xfrm>
            <a:off x="548640" y="1481328"/>
            <a:ext cx="5364327" cy="2109977"/>
          </a:xfrm>
          <a:prstGeom prst="rect">
            <a:avLst/>
          </a:prstGeom>
          <a:noFill/>
        </p:spPr>
        <p:txBody>
          <a:bodyPr wrap="square" lIns="0" tIns="0" rIns="0" bIns="0" anchor="t">
            <a:spAutoFit/>
          </a:bodyPr>
          <a:lstStyle/>
          <a:p>
            <a:r>
              <a:rPr sz="1500" b="0" i="0">
                <a:solidFill>
                  <a:srgbClr val="263040"/>
                </a:solidFill>
                <a:latin typeface="Calibri"/>
              </a:rPr>
              <a:t>The global transition toward cashless economies, real-time retail payment rails (such as India's Unified Payments Interface [UPI], Immediate Payment Service [IMPS], and the Euro system’s TARGET Instant Payment Settlement [TIPS]), and digital commerce has elevated database management systems from passive data repositories to mission-critical transaction arbiters. In a financial context, an electronic payment is not a mere update to a numeric field; it represents a legally binding, multi-stage state transition between sovereign parties governed by strict accounting standards.</a:t>
            </a:r>
          </a:p>
        </p:txBody>
      </p:sp>
      <p:sp>
        <p:nvSpPr>
          <p:cNvPr id="6" name="TextBox 5"/>
          <p:cNvSpPr txBox="1"/>
          <p:nvPr/>
        </p:nvSpPr>
        <p:spPr>
          <a:xfrm>
            <a:off x="548640" y="3682746"/>
            <a:ext cx="5364327" cy="947928"/>
          </a:xfrm>
          <a:prstGeom prst="rect">
            <a:avLst/>
          </a:prstGeom>
          <a:noFill/>
        </p:spPr>
        <p:txBody>
          <a:bodyPr wrap="square" lIns="0" tIns="0" rIns="0" bIns="0" anchor="t">
            <a:spAutoFit/>
          </a:bodyPr>
          <a:lstStyle/>
          <a:p>
            <a:r>
              <a:rPr sz="1500" b="0" i="0">
                <a:solidFill>
                  <a:srgbClr val="263040"/>
                </a:solidFill>
                <a:latin typeface="Calibri"/>
              </a:rPr>
              <a:t>Payment processing systems operate under unique and uncompromising architectural pressures. Unlike social media or content management applications where eventual consistency is acceptable, financial ledgers must strictly exhibit ACID properties:</a:t>
            </a:r>
          </a:p>
        </p:txBody>
      </p:sp>
      <p:sp>
        <p:nvSpPr>
          <p:cNvPr id="7" name="Card"/>
          <p:cNvSpPr/>
          <p:nvPr/>
        </p:nvSpPr>
        <p:spPr>
          <a:xfrm>
            <a:off x="6278727" y="1481328"/>
            <a:ext cx="5364327" cy="2031390"/>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25031" y="1598371"/>
            <a:ext cx="5071719" cy="1797304"/>
          </a:xfrm>
          <a:prstGeom prst="rect">
            <a:avLst/>
          </a:prstGeom>
          <a:noFill/>
        </p:spPr>
        <p:txBody>
          <a:bodyPr wrap="square" lIns="0" tIns="0" rIns="0" bIns="0" anchor="t">
            <a:spAutoFit/>
          </a:bodyPr>
          <a:lstStyle/>
          <a:p>
            <a:r>
              <a:rPr sz="1450" b="1" i="0">
                <a:solidFill>
                  <a:srgbClr val="0B7A75"/>
                </a:solidFill>
                <a:latin typeface="Calibri"/>
              </a:rPr>
              <a:t>Atomicity: </a:t>
            </a:r>
            <a:r>
              <a:rPr sz="1450" b="0" i="0">
                <a:solidFill>
                  <a:srgbClr val="263040"/>
                </a:solidFill>
                <a:latin typeface="Calibri"/>
              </a:rPr>
              <a:t>Every fund transfer involves at least two interrelated balance adjustments—a debit from the payer's account and a corresponding credit to the payee's account. If an unexpected power outage, network severance, or hardware fault occurs mid-stream, the database engine must roll back the entire transaction to its pre-initiation state. A partial transfer where funds vanish from the sender without appearing in the receiver's account represents a catastrophic failure.</a:t>
            </a:r>
          </a:p>
        </p:txBody>
      </p:sp>
      <p:sp>
        <p:nvSpPr>
          <p:cNvPr id="9" name="Card"/>
          <p:cNvSpPr/>
          <p:nvPr/>
        </p:nvSpPr>
        <p:spPr>
          <a:xfrm>
            <a:off x="6278727" y="3622446"/>
            <a:ext cx="5364327" cy="1582064"/>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25031" y="3739489"/>
            <a:ext cx="5071719" cy="1347977"/>
          </a:xfrm>
          <a:prstGeom prst="rect">
            <a:avLst/>
          </a:prstGeom>
          <a:noFill/>
        </p:spPr>
        <p:txBody>
          <a:bodyPr wrap="square" lIns="0" tIns="0" rIns="0" bIns="0" anchor="t">
            <a:spAutoFit/>
          </a:bodyPr>
          <a:lstStyle/>
          <a:p>
            <a:r>
              <a:rPr sz="1450" b="1" i="0">
                <a:solidFill>
                  <a:srgbClr val="0B7A75"/>
                </a:solidFill>
                <a:latin typeface="Calibri"/>
              </a:rPr>
              <a:t>Consistency: </a:t>
            </a:r>
            <a:r>
              <a:rPr sz="1450" b="0" i="0">
                <a:solidFill>
                  <a:srgbClr val="263040"/>
                </a:solidFill>
                <a:latin typeface="Calibri"/>
              </a:rPr>
              <a:t>The database must transition exclusively between valid financial states. Invariants such as non-negative account balances, positive transaction amounts, valid currency alignments, and balanced ledger postings must be maintained across all modifications through declarative schema constraints and programmatic triggers.</a:t>
            </a:r>
          </a:p>
        </p:txBody>
      </p:sp>
      <p:sp>
        <p:nvSpPr>
          <p:cNvPr id="11" name="TextBox 10">
            <a:extLst>
              <a:ext uri="{FF2B5EF4-FFF2-40B4-BE49-F238E27FC236}">
                <a16:creationId xmlns:a16="http://schemas.microsoft.com/office/drawing/2014/main" id="{2896320C-72EB-C062-5683-3406376FED97}"/>
              </a:ext>
            </a:extLst>
          </p:cNvPr>
          <p:cNvSpPr txBox="1"/>
          <p:nvPr/>
        </p:nvSpPr>
        <p:spPr>
          <a:xfrm>
            <a:off x="9390888" y="163955"/>
            <a:ext cx="3291840" cy="1200329"/>
          </a:xfrm>
          <a:prstGeom prst="rect">
            <a:avLst/>
          </a:prstGeom>
          <a:noFill/>
        </p:spPr>
        <p:txBody>
          <a:bodyPr wrap="square" rtlCol="0">
            <a:spAutoFit/>
          </a:bodyPr>
          <a:lstStyle/>
          <a:p>
            <a:r>
              <a:rPr lang="en-IN" dirty="0"/>
              <a:t>Team members:- </a:t>
            </a:r>
            <a:br>
              <a:rPr lang="en-IN" dirty="0"/>
            </a:br>
            <a:r>
              <a:rPr lang="en-IN" dirty="0"/>
              <a:t>M Srikar (24BCE0285)</a:t>
            </a:r>
            <a:br>
              <a:rPr lang="en-IN" dirty="0"/>
            </a:br>
            <a:r>
              <a:rPr lang="en-IN" dirty="0"/>
              <a:t>SRIHARI (24BCI0088)</a:t>
            </a:r>
            <a:br>
              <a:rPr lang="en-IN" dirty="0"/>
            </a:br>
            <a:r>
              <a:rPr lang="en-IN" dirty="0"/>
              <a:t>J GIRISH (24BAI0047)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Introduction (cont.)</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a:t>
            </a:r>
          </a:p>
        </p:txBody>
      </p:sp>
      <p:sp>
        <p:nvSpPr>
          <p:cNvPr id="5" name="Card"/>
          <p:cNvSpPr/>
          <p:nvPr/>
        </p:nvSpPr>
        <p:spPr>
          <a:xfrm>
            <a:off x="548640" y="1481328"/>
            <a:ext cx="5364327" cy="1806727"/>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4944" y="1598371"/>
            <a:ext cx="5071719" cy="1572641"/>
          </a:xfrm>
          <a:prstGeom prst="rect">
            <a:avLst/>
          </a:prstGeom>
          <a:noFill/>
        </p:spPr>
        <p:txBody>
          <a:bodyPr wrap="square" lIns="0" tIns="0" rIns="0" bIns="0" anchor="t">
            <a:spAutoFit/>
          </a:bodyPr>
          <a:lstStyle/>
          <a:p>
            <a:r>
              <a:rPr sz="1450" b="1" i="0">
                <a:solidFill>
                  <a:srgbClr val="0B7A75"/>
                </a:solidFill>
                <a:latin typeface="Calibri"/>
              </a:rPr>
              <a:t>Isolation: </a:t>
            </a:r>
            <a:r>
              <a:rPr sz="1450" b="0" i="0">
                <a:solidFill>
                  <a:srgbClr val="263040"/>
                </a:solidFill>
                <a:latin typeface="Calibri"/>
              </a:rPr>
              <a:t>When hundreds or thousands of simultaneous payment requests target the same merchant or consumer account within milliseconds, the database engine must isolate each concurrent execution to prevent race conditions, dirty reads, non-repeatable reads, and lost updates. The database must produce identical final states regardless of the arbitrary interleaving of concurrent execution threads.</a:t>
            </a:r>
          </a:p>
        </p:txBody>
      </p:sp>
      <p:sp>
        <p:nvSpPr>
          <p:cNvPr id="7" name="Card"/>
          <p:cNvSpPr/>
          <p:nvPr/>
        </p:nvSpPr>
        <p:spPr>
          <a:xfrm>
            <a:off x="548640" y="3397783"/>
            <a:ext cx="5364327" cy="1582064"/>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3514826"/>
            <a:ext cx="5071719" cy="1347977"/>
          </a:xfrm>
          <a:prstGeom prst="rect">
            <a:avLst/>
          </a:prstGeom>
          <a:noFill/>
        </p:spPr>
        <p:txBody>
          <a:bodyPr wrap="square" lIns="0" tIns="0" rIns="0" bIns="0" anchor="t">
            <a:spAutoFit/>
          </a:bodyPr>
          <a:lstStyle/>
          <a:p>
            <a:r>
              <a:rPr sz="1450" b="1" i="0">
                <a:solidFill>
                  <a:srgbClr val="0B7A75"/>
                </a:solidFill>
                <a:latin typeface="Calibri"/>
              </a:rPr>
              <a:t>Durability: </a:t>
            </a:r>
            <a:r>
              <a:rPr sz="1450" b="0" i="0">
                <a:solidFill>
                  <a:srgbClr val="263040"/>
                </a:solidFill>
                <a:latin typeface="Calibri"/>
              </a:rPr>
              <a:t>Once a payment is confirmed and acknowledged to the end-user, its persistent state and corresponding double-entry ledger entries must survive any subsequent operating system crash, power loss, or storage failure. In Oracle Database, this is fundamentally guaranteed through Write-Ahead Logging (WAL) via redo log buffers, online redo logs, and checkpointing.</a:t>
            </a:r>
          </a:p>
        </p:txBody>
      </p:sp>
      <p:sp>
        <p:nvSpPr>
          <p:cNvPr id="9" name="TextBox 8"/>
          <p:cNvSpPr txBox="1"/>
          <p:nvPr/>
        </p:nvSpPr>
        <p:spPr>
          <a:xfrm>
            <a:off x="548640" y="5089575"/>
            <a:ext cx="5364327" cy="715518"/>
          </a:xfrm>
          <a:prstGeom prst="rect">
            <a:avLst/>
          </a:prstGeom>
          <a:noFill/>
        </p:spPr>
        <p:txBody>
          <a:bodyPr wrap="square" lIns="0" tIns="0" rIns="0" bIns="0" anchor="t">
            <a:spAutoFit/>
          </a:bodyPr>
          <a:lstStyle/>
          <a:p>
            <a:r>
              <a:rPr sz="1500" b="0" i="0">
                <a:solidFill>
                  <a:srgbClr val="263040"/>
                </a:solidFill>
                <a:latin typeface="Calibri"/>
              </a:rPr>
              <a:t>Within modern banking architectures, the database layer serves as the ultimate source of truth. Application servers, microservices, and network gateways are transient and prone to crash-restart cycles.</a:t>
            </a:r>
          </a:p>
        </p:txBody>
      </p:sp>
      <p:sp>
        <p:nvSpPr>
          <p:cNvPr id="10" name="TextBox 9"/>
          <p:cNvSpPr txBox="1"/>
          <p:nvPr/>
        </p:nvSpPr>
        <p:spPr>
          <a:xfrm>
            <a:off x="6278727" y="1481328"/>
            <a:ext cx="5364327" cy="1645157"/>
          </a:xfrm>
          <a:prstGeom prst="rect">
            <a:avLst/>
          </a:prstGeom>
          <a:noFill/>
        </p:spPr>
        <p:txBody>
          <a:bodyPr wrap="square" lIns="0" tIns="0" rIns="0" bIns="0" anchor="t">
            <a:spAutoFit/>
          </a:bodyPr>
          <a:lstStyle/>
          <a:p>
            <a:r>
              <a:rPr sz="1500" b="0" i="0">
                <a:solidFill>
                  <a:srgbClr val="263040"/>
                </a:solidFill>
                <a:latin typeface="Calibri"/>
              </a:rPr>
              <a:t>Consequently, relying solely on application-level logic to preserve financial integrity introduces severe vulnerabilities. True transactional security requires declarative database constraints, normalized schema topologies, immutable ledger structures, and disciplined reconciliation workflows implemented directly within the RDBMS. This case study demonstrates these foundational database engineering principles using Oracle Database.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1. Problem Statement &amp; Domain Analysis</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a:t>
            </a:r>
          </a:p>
        </p:txBody>
      </p:sp>
      <p:sp>
        <p:nvSpPr>
          <p:cNvPr id="5" name="TextBox 4"/>
          <p:cNvSpPr txBox="1"/>
          <p:nvPr/>
        </p:nvSpPr>
        <p:spPr>
          <a:xfrm>
            <a:off x="548640" y="1481328"/>
            <a:ext cx="5364327" cy="339343"/>
          </a:xfrm>
          <a:prstGeom prst="rect">
            <a:avLst/>
          </a:prstGeom>
          <a:noFill/>
        </p:spPr>
        <p:txBody>
          <a:bodyPr wrap="square" lIns="0" tIns="0" rIns="0" bIns="0" anchor="t">
            <a:spAutoFit/>
          </a:bodyPr>
          <a:lstStyle/>
          <a:p>
            <a:r>
              <a:rPr sz="1600" b="1" i="0">
                <a:solidFill>
                  <a:srgbClr val="14233F"/>
                </a:solidFill>
                <a:latin typeface="Calibri"/>
              </a:rPr>
              <a:t>1.1 Problem Statement</a:t>
            </a:r>
          </a:p>
        </p:txBody>
      </p:sp>
      <p:sp>
        <p:nvSpPr>
          <p:cNvPr id="6" name="TextBox 5"/>
          <p:cNvSpPr txBox="1"/>
          <p:nvPr/>
        </p:nvSpPr>
        <p:spPr>
          <a:xfrm>
            <a:off x="548640" y="1820672"/>
            <a:ext cx="5364327" cy="1753615"/>
          </a:xfrm>
          <a:prstGeom prst="rect">
            <a:avLst/>
          </a:prstGeom>
          <a:noFill/>
        </p:spPr>
        <p:txBody>
          <a:bodyPr wrap="square" lIns="0" tIns="0" rIns="0" bIns="0" anchor="t">
            <a:spAutoFit/>
          </a:bodyPr>
          <a:lstStyle/>
          <a:p>
            <a:r>
              <a:rPr sz="1400" b="0" i="0">
                <a:solidFill>
                  <a:srgbClr val="263040"/>
                </a:solidFill>
                <a:latin typeface="Calibri"/>
              </a:rPr>
              <a:t>Modern digital payment systems handle numerous transactions involving customers, bank accounts, and payment gateways. Maintaining accurate and consistent financial records becomes challenging when multiple transactions occur simultaneously, payment requests are repeated because of network timeouts, or transaction processing fails midway. Differences between internal transaction records and external payment-provider reports can also make it difficult to identify missing payments, duplicate records, and incorrect amounts.</a:t>
            </a:r>
          </a:p>
        </p:txBody>
      </p:sp>
      <p:sp>
        <p:nvSpPr>
          <p:cNvPr id="7" name="TextBox 6"/>
          <p:cNvSpPr txBox="1"/>
          <p:nvPr/>
        </p:nvSpPr>
        <p:spPr>
          <a:xfrm>
            <a:off x="548640" y="3665727"/>
            <a:ext cx="5364327" cy="1319784"/>
          </a:xfrm>
          <a:prstGeom prst="rect">
            <a:avLst/>
          </a:prstGeom>
          <a:noFill/>
        </p:spPr>
        <p:txBody>
          <a:bodyPr wrap="square" lIns="0" tIns="0" rIns="0" bIns="0" anchor="t">
            <a:spAutoFit/>
          </a:bodyPr>
          <a:lstStyle/>
          <a:p>
            <a:r>
              <a:rPr sz="1400" b="0" i="0">
                <a:solidFill>
                  <a:srgbClr val="263040"/>
                </a:solidFill>
                <a:latin typeface="Calibri"/>
              </a:rPr>
              <a:t>These situations highlight the need for a well-designed database that maintains data integrity, supports reliable transaction processing, preserves financial records, and identifies discrepancies. A poorly designed database may allow duplicate transaction records, inconsistent account balances, incomplete audit trails, or inaccurate reconciliation results.</a:t>
            </a:r>
          </a:p>
        </p:txBody>
      </p:sp>
      <p:sp>
        <p:nvSpPr>
          <p:cNvPr id="8" name="TextBox 7"/>
          <p:cNvSpPr txBox="1"/>
          <p:nvPr/>
        </p:nvSpPr>
        <p:spPr>
          <a:xfrm>
            <a:off x="548640" y="5076951"/>
            <a:ext cx="5364327" cy="1102867"/>
          </a:xfrm>
          <a:prstGeom prst="rect">
            <a:avLst/>
          </a:prstGeom>
          <a:noFill/>
        </p:spPr>
        <p:txBody>
          <a:bodyPr wrap="square" lIns="0" tIns="0" rIns="0" bIns="0" anchor="t">
            <a:spAutoFit/>
          </a:bodyPr>
          <a:lstStyle/>
          <a:p>
            <a:r>
              <a:rPr sz="1400" b="0" i="0">
                <a:solidFill>
                  <a:srgbClr val="263040"/>
                </a:solidFill>
                <a:latin typeface="Calibri"/>
              </a:rPr>
              <a:t>This case study addresses these challenges by designing and implementing a relational database using Oracle SQL. The proposed system organizes users, bank accounts, payment transactions, double-entry ledger entries, payment gateways, external transaction records, reconciliation batches, exceptions, and audit logs.</a:t>
            </a:r>
          </a:p>
        </p:txBody>
      </p:sp>
      <p:sp>
        <p:nvSpPr>
          <p:cNvPr id="9" name="TextBox 8"/>
          <p:cNvSpPr txBox="1"/>
          <p:nvPr/>
        </p:nvSpPr>
        <p:spPr>
          <a:xfrm>
            <a:off x="6278727" y="1481328"/>
            <a:ext cx="5364327" cy="669036"/>
          </a:xfrm>
          <a:prstGeom prst="rect">
            <a:avLst/>
          </a:prstGeom>
          <a:noFill/>
        </p:spPr>
        <p:txBody>
          <a:bodyPr wrap="square" lIns="0" tIns="0" rIns="0" bIns="0" anchor="t">
            <a:spAutoFit/>
          </a:bodyPr>
          <a:lstStyle/>
          <a:p>
            <a:r>
              <a:rPr sz="1400" b="0" i="0">
                <a:solidFill>
                  <a:srgbClr val="263040"/>
                </a:solidFill>
                <a:latin typeface="Calibri"/>
              </a:rPr>
              <a:t>It applies relational constraints, appropriate table relationships, SQL operations, and analytical queries to demonstrate how database management principles support reliable financial recordkeeping.</a:t>
            </a:r>
          </a:p>
        </p:txBody>
      </p:sp>
      <p:sp>
        <p:nvSpPr>
          <p:cNvPr id="10" name="TextBox 9"/>
          <p:cNvSpPr txBox="1"/>
          <p:nvPr/>
        </p:nvSpPr>
        <p:spPr>
          <a:xfrm>
            <a:off x="6278727" y="2241804"/>
            <a:ext cx="5364327" cy="339343"/>
          </a:xfrm>
          <a:prstGeom prst="rect">
            <a:avLst/>
          </a:prstGeom>
          <a:noFill/>
        </p:spPr>
        <p:txBody>
          <a:bodyPr wrap="square" lIns="0" tIns="0" rIns="0" bIns="0" anchor="t">
            <a:spAutoFit/>
          </a:bodyPr>
          <a:lstStyle/>
          <a:p>
            <a:r>
              <a:rPr sz="1600" b="1" i="0">
                <a:solidFill>
                  <a:srgbClr val="14233F"/>
                </a:solidFill>
                <a:latin typeface="Calibri"/>
              </a:rPr>
              <a:t>1.2 Domain Analysis</a:t>
            </a:r>
          </a:p>
        </p:txBody>
      </p:sp>
      <p:sp>
        <p:nvSpPr>
          <p:cNvPr id="11" name="TextBox 10"/>
          <p:cNvSpPr txBox="1"/>
          <p:nvPr/>
        </p:nvSpPr>
        <p:spPr>
          <a:xfrm>
            <a:off x="6278727" y="2581148"/>
            <a:ext cx="5364327" cy="885951"/>
          </a:xfrm>
          <a:prstGeom prst="rect">
            <a:avLst/>
          </a:prstGeom>
          <a:noFill/>
        </p:spPr>
        <p:txBody>
          <a:bodyPr wrap="square" lIns="0" tIns="0" rIns="0" bIns="0" anchor="t">
            <a:spAutoFit/>
          </a:bodyPr>
          <a:lstStyle/>
          <a:p>
            <a:r>
              <a:rPr sz="1400" b="0" i="0">
                <a:solidFill>
                  <a:srgbClr val="263040"/>
                </a:solidFill>
                <a:latin typeface="Calibri"/>
              </a:rPr>
              <a:t>The project belongs to the domain of financial transaction processing and payment reconciliation. In this domain, a payment represents a financial operation that must be recorded accurately and associated with the relevant accounts and transaction history.</a:t>
            </a:r>
          </a:p>
        </p:txBody>
      </p:sp>
      <p:sp>
        <p:nvSpPr>
          <p:cNvPr id="12" name="TextBox 11"/>
          <p:cNvSpPr txBox="1"/>
          <p:nvPr/>
        </p:nvSpPr>
        <p:spPr>
          <a:xfrm>
            <a:off x="6278727" y="3558540"/>
            <a:ext cx="5364327" cy="235204"/>
          </a:xfrm>
          <a:prstGeom prst="rect">
            <a:avLst/>
          </a:prstGeom>
          <a:noFill/>
        </p:spPr>
        <p:txBody>
          <a:bodyPr wrap="square" lIns="0" tIns="0" rIns="0" bIns="0" anchor="t">
            <a:spAutoFit/>
          </a:bodyPr>
          <a:lstStyle/>
          <a:p>
            <a:r>
              <a:rPr sz="1400" b="0" i="0">
                <a:solidFill>
                  <a:srgbClr val="263040"/>
                </a:solidFill>
                <a:latin typeface="Calibri"/>
              </a:rPr>
              <a:t>The system focuses on five important challenges:</a:t>
            </a:r>
          </a:p>
        </p:txBody>
      </p:sp>
      <p:sp>
        <p:nvSpPr>
          <p:cNvPr id="13" name="Card"/>
          <p:cNvSpPr/>
          <p:nvPr/>
        </p:nvSpPr>
        <p:spPr>
          <a:xfrm>
            <a:off x="6278727" y="3885184"/>
            <a:ext cx="5364327" cy="107076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5031" y="4002227"/>
            <a:ext cx="5071719" cy="836675"/>
          </a:xfrm>
          <a:prstGeom prst="rect">
            <a:avLst/>
          </a:prstGeom>
          <a:noFill/>
        </p:spPr>
        <p:txBody>
          <a:bodyPr wrap="square" lIns="0" tIns="0" rIns="0" bIns="0" anchor="t">
            <a:spAutoFit/>
          </a:bodyPr>
          <a:lstStyle/>
          <a:p>
            <a:r>
              <a:rPr sz="1350" b="1" i="0">
                <a:solidFill>
                  <a:srgbClr val="0B7A75"/>
                </a:solidFill>
                <a:latin typeface="Calibri"/>
              </a:rPr>
              <a:t>Concurrent Account Updates: </a:t>
            </a:r>
            <a:r>
              <a:rPr sz="1350" b="0" i="0">
                <a:solidFill>
                  <a:srgbClr val="263040"/>
                </a:solidFill>
                <a:latin typeface="Calibri"/>
              </a:rPr>
              <a:t>Multiple transactions may attempt to modify the same account balance simultaneously. Without suitable transaction control, these operations can produce incorrect balances or lost updates.</a:t>
            </a:r>
          </a:p>
        </p:txBody>
      </p:sp>
      <p:sp>
        <p:nvSpPr>
          <p:cNvPr id="15" name="Card"/>
          <p:cNvSpPr/>
          <p:nvPr/>
        </p:nvSpPr>
        <p:spPr>
          <a:xfrm>
            <a:off x="6278727" y="5065674"/>
            <a:ext cx="5364327" cy="107076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5031" y="5182717"/>
            <a:ext cx="5071719" cy="836675"/>
          </a:xfrm>
          <a:prstGeom prst="rect">
            <a:avLst/>
          </a:prstGeom>
          <a:noFill/>
        </p:spPr>
        <p:txBody>
          <a:bodyPr wrap="square" lIns="0" tIns="0" rIns="0" bIns="0" anchor="t">
            <a:spAutoFit/>
          </a:bodyPr>
          <a:lstStyle/>
          <a:p>
            <a:r>
              <a:rPr sz="1350" b="1" i="0">
                <a:solidFill>
                  <a:srgbClr val="0B7A75"/>
                </a:solidFill>
                <a:latin typeface="Calibri"/>
              </a:rPr>
              <a:t>Duplicate Payment Requests: </a:t>
            </a:r>
            <a:r>
              <a:rPr sz="1350" b="0" i="0">
                <a:solidFill>
                  <a:srgbClr val="263040"/>
                </a:solidFill>
                <a:latin typeface="Calibri"/>
              </a:rPr>
              <a:t>Network timeouts may cause clients to retry a request even when the original payment has already been recorded. Unique idempotency keys help prevent duplicate transaction records.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1. Problem Statement &amp; Domain Analysis (cont.)</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4</a:t>
            </a:r>
          </a:p>
        </p:txBody>
      </p:sp>
      <p:sp>
        <p:nvSpPr>
          <p:cNvPr id="5" name="Card"/>
          <p:cNvSpPr/>
          <p:nvPr/>
        </p:nvSpPr>
        <p:spPr>
          <a:xfrm>
            <a:off x="548640" y="1481328"/>
            <a:ext cx="5364327" cy="861593"/>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4944" y="1598371"/>
            <a:ext cx="5071719" cy="627506"/>
          </a:xfrm>
          <a:prstGeom prst="rect">
            <a:avLst/>
          </a:prstGeom>
          <a:noFill/>
        </p:spPr>
        <p:txBody>
          <a:bodyPr wrap="square" lIns="0" tIns="0" rIns="0" bIns="0" anchor="t">
            <a:spAutoFit/>
          </a:bodyPr>
          <a:lstStyle/>
          <a:p>
            <a:r>
              <a:rPr sz="1350" b="1" i="0">
                <a:solidFill>
                  <a:srgbClr val="0B7A75"/>
                </a:solidFill>
                <a:latin typeface="Calibri"/>
              </a:rPr>
              <a:t>Transaction Failures: </a:t>
            </a:r>
            <a:r>
              <a:rPr sz="1350" b="0" i="0">
                <a:solidFill>
                  <a:srgbClr val="263040"/>
                </a:solidFill>
                <a:latin typeface="Calibri"/>
              </a:rPr>
              <a:t>A payment may fail during processing, creating a risk of incomplete financial updates. Transaction management and rollback mechanisms are important for maintaining consistency.</a:t>
            </a:r>
          </a:p>
        </p:txBody>
      </p:sp>
      <p:sp>
        <p:nvSpPr>
          <p:cNvPr id="7" name="Card"/>
          <p:cNvSpPr/>
          <p:nvPr/>
        </p:nvSpPr>
        <p:spPr>
          <a:xfrm>
            <a:off x="548640" y="2452649"/>
            <a:ext cx="5364327" cy="107076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2569692"/>
            <a:ext cx="5071719" cy="836675"/>
          </a:xfrm>
          <a:prstGeom prst="rect">
            <a:avLst/>
          </a:prstGeom>
          <a:noFill/>
        </p:spPr>
        <p:txBody>
          <a:bodyPr wrap="square" lIns="0" tIns="0" rIns="0" bIns="0" anchor="t">
            <a:spAutoFit/>
          </a:bodyPr>
          <a:lstStyle/>
          <a:p>
            <a:r>
              <a:rPr sz="1350" b="1" i="0">
                <a:solidFill>
                  <a:srgbClr val="0B7A75"/>
                </a:solidFill>
                <a:latin typeface="Calibri"/>
              </a:rPr>
              <a:t>Financial Record Consistency: </a:t>
            </a:r>
            <a:r>
              <a:rPr sz="1350" b="0" i="0">
                <a:solidFill>
                  <a:srgbClr val="263040"/>
                </a:solidFill>
                <a:latin typeface="Calibri"/>
              </a:rPr>
              <a:t>Each successful transfer should have corresponding debit and credit ledger entries of equal value. This double-entry approach provides a way to verify the accounting balance of recorded transactions.</a:t>
            </a:r>
          </a:p>
        </p:txBody>
      </p:sp>
      <p:sp>
        <p:nvSpPr>
          <p:cNvPr id="9" name="Card"/>
          <p:cNvSpPr/>
          <p:nvPr/>
        </p:nvSpPr>
        <p:spPr>
          <a:xfrm>
            <a:off x="548640" y="3633139"/>
            <a:ext cx="5364327" cy="107076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 y="3750182"/>
            <a:ext cx="5071719" cy="836675"/>
          </a:xfrm>
          <a:prstGeom prst="rect">
            <a:avLst/>
          </a:prstGeom>
          <a:noFill/>
        </p:spPr>
        <p:txBody>
          <a:bodyPr wrap="square" lIns="0" tIns="0" rIns="0" bIns="0" anchor="t">
            <a:spAutoFit/>
          </a:bodyPr>
          <a:lstStyle/>
          <a:p>
            <a:r>
              <a:rPr sz="1350" b="1" i="0">
                <a:solidFill>
                  <a:srgbClr val="0B7A75"/>
                </a:solidFill>
                <a:latin typeface="Calibri"/>
              </a:rPr>
              <a:t>Internal and External Reconciliation: </a:t>
            </a:r>
            <a:r>
              <a:rPr sz="1350" b="0" i="0">
                <a:solidFill>
                  <a:srgbClr val="263040"/>
                </a:solidFill>
                <a:latin typeface="Calibri"/>
              </a:rPr>
              <a:t>Internal payment records may differ from external gateway records because of missing transactions, duplicate records, amount mismatches, or status differences. Reconciliation queries help identify and classify these discrepancies.</a:t>
            </a:r>
          </a:p>
        </p:txBody>
      </p:sp>
      <p:sp>
        <p:nvSpPr>
          <p:cNvPr id="11" name="TextBox 10"/>
          <p:cNvSpPr txBox="1"/>
          <p:nvPr/>
        </p:nvSpPr>
        <p:spPr>
          <a:xfrm>
            <a:off x="548640" y="4813630"/>
            <a:ext cx="5364327" cy="339343"/>
          </a:xfrm>
          <a:prstGeom prst="rect">
            <a:avLst/>
          </a:prstGeom>
          <a:noFill/>
        </p:spPr>
        <p:txBody>
          <a:bodyPr wrap="square" lIns="0" tIns="0" rIns="0" bIns="0" anchor="t">
            <a:spAutoFit/>
          </a:bodyPr>
          <a:lstStyle/>
          <a:p>
            <a:r>
              <a:rPr sz="1600" b="1" i="0">
                <a:solidFill>
                  <a:srgbClr val="14233F"/>
                </a:solidFill>
                <a:latin typeface="Calibri"/>
              </a:rPr>
              <a:t>1.3 Proposed Approach</a:t>
            </a:r>
          </a:p>
        </p:txBody>
      </p:sp>
      <p:sp>
        <p:nvSpPr>
          <p:cNvPr id="12" name="TextBox 11"/>
          <p:cNvSpPr txBox="1"/>
          <p:nvPr/>
        </p:nvSpPr>
        <p:spPr>
          <a:xfrm>
            <a:off x="548640" y="5152974"/>
            <a:ext cx="5364327" cy="885951"/>
          </a:xfrm>
          <a:prstGeom prst="rect">
            <a:avLst/>
          </a:prstGeom>
          <a:noFill/>
        </p:spPr>
        <p:txBody>
          <a:bodyPr wrap="square" lIns="0" tIns="0" rIns="0" bIns="0" anchor="t">
            <a:spAutoFit/>
          </a:bodyPr>
          <a:lstStyle/>
          <a:p>
            <a:r>
              <a:rPr sz="1400" b="0" i="0">
                <a:solidFill>
                  <a:srgbClr val="263040"/>
                </a:solidFill>
                <a:latin typeface="Calibri"/>
              </a:rPr>
              <a:t>The case study uses Oracle Database to model the financial domain through a normalized relational schema with primary keys, foreign keys, unique constraints, check constraints, and default values. SQL queries are used to insert, modify, retrieve, validate, and summarize transaction data.</a:t>
            </a:r>
          </a:p>
        </p:txBody>
      </p:sp>
      <p:sp>
        <p:nvSpPr>
          <p:cNvPr id="13" name="TextBox 12"/>
          <p:cNvSpPr txBox="1"/>
          <p:nvPr/>
        </p:nvSpPr>
        <p:spPr>
          <a:xfrm>
            <a:off x="6278727" y="1481328"/>
            <a:ext cx="5364327" cy="1102867"/>
          </a:xfrm>
          <a:prstGeom prst="rect">
            <a:avLst/>
          </a:prstGeom>
          <a:noFill/>
        </p:spPr>
        <p:txBody>
          <a:bodyPr wrap="square" lIns="0" tIns="0" rIns="0" bIns="0" anchor="t">
            <a:spAutoFit/>
          </a:bodyPr>
          <a:lstStyle/>
          <a:p>
            <a:r>
              <a:rPr sz="1400" b="0" i="0">
                <a:solidFill>
                  <a:srgbClr val="263040"/>
                </a:solidFill>
                <a:latin typeface="Calibri"/>
              </a:rPr>
              <a:t>The database also includes a double-entry ledger structure, audit records, and simulated external payment-provider data for reconciliation. The initial review focuses on database design and basic SQL implementation, while advanced PL/SQL procedures, triggers, and concurrency-control experiments can be developed in the subsequent review.</a:t>
            </a:r>
          </a:p>
        </p:txBody>
      </p:sp>
      <p:sp>
        <p:nvSpPr>
          <p:cNvPr id="14" name="TextBox 13"/>
          <p:cNvSpPr txBox="1"/>
          <p:nvPr/>
        </p:nvSpPr>
        <p:spPr>
          <a:xfrm>
            <a:off x="6278727" y="2675636"/>
            <a:ext cx="5364327" cy="669036"/>
          </a:xfrm>
          <a:prstGeom prst="rect">
            <a:avLst/>
          </a:prstGeom>
          <a:noFill/>
        </p:spPr>
        <p:txBody>
          <a:bodyPr wrap="square" lIns="0" tIns="0" rIns="0" bIns="0" anchor="t">
            <a:spAutoFit/>
          </a:bodyPr>
          <a:lstStyle/>
          <a:p>
            <a:r>
              <a:rPr sz="1400" b="0" i="0">
                <a:solidFill>
                  <a:srgbClr val="263040"/>
                </a:solidFill>
                <a:latin typeface="Calibri"/>
              </a:rPr>
              <a:t>The objective is not to replace existing commercial payment systems, but to demonstrate how fundamental DBMS concepts can be applied and evaluated in a realistic financial scenario.</a:t>
            </a:r>
          </a:p>
        </p:txBody>
      </p:sp>
      <p:sp>
        <p:nvSpPr>
          <p:cNvPr id="15" name="TextBox 14"/>
          <p:cNvSpPr txBox="1"/>
          <p:nvPr/>
        </p:nvSpPr>
        <p:spPr>
          <a:xfrm>
            <a:off x="6278727" y="3436112"/>
            <a:ext cx="5364327" cy="339343"/>
          </a:xfrm>
          <a:prstGeom prst="rect">
            <a:avLst/>
          </a:prstGeom>
          <a:noFill/>
        </p:spPr>
        <p:txBody>
          <a:bodyPr wrap="square" lIns="0" tIns="0" rIns="0" bIns="0" anchor="t">
            <a:spAutoFit/>
          </a:bodyPr>
          <a:lstStyle/>
          <a:p>
            <a:r>
              <a:rPr sz="1600" b="1" i="0">
                <a:solidFill>
                  <a:srgbClr val="14233F"/>
                </a:solidFill>
                <a:latin typeface="Calibri"/>
              </a:rPr>
              <a:t>1.4 Scope of the Case Study</a:t>
            </a:r>
          </a:p>
        </p:txBody>
      </p:sp>
      <p:sp>
        <p:nvSpPr>
          <p:cNvPr id="16" name="TextBox 15"/>
          <p:cNvSpPr txBox="1"/>
          <p:nvPr/>
        </p:nvSpPr>
        <p:spPr>
          <a:xfrm>
            <a:off x="6278727" y="3775455"/>
            <a:ext cx="5364327" cy="1102867"/>
          </a:xfrm>
          <a:prstGeom prst="rect">
            <a:avLst/>
          </a:prstGeom>
          <a:noFill/>
        </p:spPr>
        <p:txBody>
          <a:bodyPr wrap="square" lIns="0" tIns="0" rIns="0" bIns="0" anchor="t">
            <a:spAutoFit/>
          </a:bodyPr>
          <a:lstStyle/>
          <a:p>
            <a:r>
              <a:rPr sz="1400" b="0" i="0">
                <a:solidFill>
                  <a:srgbClr val="263040"/>
                </a:solidFill>
                <a:latin typeface="Calibri"/>
              </a:rPr>
              <a:t>The implementation is limited to a database prototype using simulated payment data. It does not process real money, connect to live banking APIs, or implement a complete commercial payment gateway. Its primary focus is relational database design, data integrity, SQL operations, financial record consistency, and reconciliation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2. Requirements Analysis</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5</a:t>
            </a:r>
          </a:p>
        </p:txBody>
      </p:sp>
      <p:sp>
        <p:nvSpPr>
          <p:cNvPr id="5" name="TextBox 4"/>
          <p:cNvSpPr txBox="1"/>
          <p:nvPr/>
        </p:nvSpPr>
        <p:spPr>
          <a:xfrm>
            <a:off x="548640" y="1481328"/>
            <a:ext cx="11094415" cy="292862"/>
          </a:xfrm>
          <a:prstGeom prst="rect">
            <a:avLst/>
          </a:prstGeom>
          <a:noFill/>
        </p:spPr>
        <p:txBody>
          <a:bodyPr wrap="square" lIns="0" tIns="0" rIns="0" bIns="0" anchor="t">
            <a:spAutoFit/>
          </a:bodyPr>
          <a:lstStyle/>
          <a:p>
            <a:r>
              <a:rPr sz="1300" b="1" i="0">
                <a:solidFill>
                  <a:srgbClr val="14233F"/>
                </a:solidFill>
                <a:latin typeface="Calibri"/>
              </a:rPr>
              <a:t>2.1 Functional Requirements</a:t>
            </a:r>
          </a:p>
        </p:txBody>
      </p:sp>
      <p:sp>
        <p:nvSpPr>
          <p:cNvPr id="6" name="TextBox 5"/>
          <p:cNvSpPr txBox="1"/>
          <p:nvPr/>
        </p:nvSpPr>
        <p:spPr>
          <a:xfrm>
            <a:off x="548640" y="1774190"/>
            <a:ext cx="11094415" cy="359156"/>
          </a:xfrm>
          <a:prstGeom prst="rect">
            <a:avLst/>
          </a:prstGeom>
          <a:noFill/>
        </p:spPr>
        <p:txBody>
          <a:bodyPr wrap="square" lIns="0" tIns="0" rIns="0" bIns="0" anchor="t">
            <a:spAutoFit/>
          </a:bodyPr>
          <a:lstStyle/>
          <a:p>
            <a:r>
              <a:rPr sz="1100" b="0" i="0">
                <a:solidFill>
                  <a:srgbClr val="263040"/>
                </a:solidFill>
                <a:latin typeface="Calibri"/>
              </a:rPr>
              <a:t>Functional requirements describe the operations and services that the database must support. In this project, the requirements focus on storing user information, managing bank accounts, recording payment transactions, maintaining financial ledger entries, and identifying discrepancies between internal transaction records and external payment gateway records.</a:t>
            </a:r>
          </a:p>
        </p:txBody>
      </p:sp>
      <p:sp>
        <p:nvSpPr>
          <p:cNvPr id="7" name="TextBox 6"/>
          <p:cNvSpPr txBox="1"/>
          <p:nvPr/>
        </p:nvSpPr>
        <p:spPr>
          <a:xfrm>
            <a:off x="548640" y="2224786"/>
            <a:ext cx="11094415" cy="188721"/>
          </a:xfrm>
          <a:prstGeom prst="rect">
            <a:avLst/>
          </a:prstGeom>
          <a:noFill/>
        </p:spPr>
        <p:txBody>
          <a:bodyPr wrap="square" lIns="0" tIns="0" rIns="0" bIns="0" anchor="t">
            <a:spAutoFit/>
          </a:bodyPr>
          <a:lstStyle/>
          <a:p>
            <a:r>
              <a:rPr sz="1100" b="0" i="0">
                <a:solidFill>
                  <a:srgbClr val="263040"/>
                </a:solidFill>
                <a:latin typeface="Calibri"/>
              </a:rPr>
              <a:t>The following functional requirements define the expected capabilities of the proposed database system.</a:t>
            </a:r>
          </a:p>
        </p:txBody>
      </p:sp>
      <p:graphicFrame>
        <p:nvGraphicFramePr>
          <p:cNvPr id="8" name="Table"/>
          <p:cNvGraphicFramePr>
            <a:graphicFrameLocks noGrp="1"/>
          </p:cNvGraphicFramePr>
          <p:nvPr/>
        </p:nvGraphicFramePr>
        <p:xfrm>
          <a:off x="548640" y="2504948"/>
          <a:ext cx="11094413" cy="2918460"/>
        </p:xfrm>
        <a:graphic>
          <a:graphicData uri="http://schemas.openxmlformats.org/drawingml/2006/table">
            <a:tbl>
              <a:tblPr>
                <a:tableStyleId>{5C22544A-7EE6-4342-B048-85BDC9FD1C3A}</a:tableStyleId>
              </a:tblPr>
              <a:tblGrid>
                <a:gridCol w="1524046">
                  <a:extLst>
                    <a:ext uri="{9D8B030D-6E8A-4147-A177-3AD203B41FA5}">
                      <a16:colId xmlns:a16="http://schemas.microsoft.com/office/drawing/2014/main" val="20000"/>
                    </a:ext>
                  </a:extLst>
                </a:gridCol>
                <a:gridCol w="2440450">
                  <a:extLst>
                    <a:ext uri="{9D8B030D-6E8A-4147-A177-3AD203B41FA5}">
                      <a16:colId xmlns:a16="http://schemas.microsoft.com/office/drawing/2014/main" val="20001"/>
                    </a:ext>
                  </a:extLst>
                </a:gridCol>
                <a:gridCol w="7129917">
                  <a:extLst>
                    <a:ext uri="{9D8B030D-6E8A-4147-A177-3AD203B41FA5}">
                      <a16:colId xmlns:a16="http://schemas.microsoft.com/office/drawing/2014/main" val="20002"/>
                    </a:ext>
                  </a:extLst>
                </a:gridCol>
              </a:tblGrid>
              <a:tr h="275209">
                <a:tc>
                  <a:txBody>
                    <a:bodyPr/>
                    <a:lstStyle/>
                    <a:p>
                      <a:r>
                        <a:rPr sz="950" b="1" i="0">
                          <a:solidFill>
                            <a:srgbClr val="FFFFFF"/>
                          </a:solidFill>
                          <a:latin typeface="Calibri"/>
                        </a:rPr>
                        <a:t>Requirement 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950" b="1" i="0">
                          <a:solidFill>
                            <a:srgbClr val="FFFFFF"/>
                          </a:solidFill>
                          <a:latin typeface="Calibri"/>
                        </a:rPr>
                        <a:t>Functional requirement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950" b="1" i="0">
                          <a:solidFill>
                            <a:srgbClr val="FFFFFF"/>
                          </a:solidFill>
                          <a:latin typeface="Calibri"/>
                        </a:rPr>
                        <a:t>Description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extLst>
                  <a:ext uri="{0D108BD9-81ED-4DB2-BD59-A6C34878D82A}">
                    <a16:rowId xmlns:a16="http://schemas.microsoft.com/office/drawing/2014/main" val="10000"/>
                  </a:ext>
                </a:extLst>
              </a:tr>
              <a:tr h="275209">
                <a:tc>
                  <a:txBody>
                    <a:bodyPr/>
                    <a:lstStyle/>
                    <a:p>
                      <a:r>
                        <a:rPr sz="950" b="1" i="0">
                          <a:solidFill>
                            <a:srgbClr val="14233F"/>
                          </a:solidFill>
                          <a:latin typeface="Calibri"/>
                        </a:rPr>
                        <a:t>FR-01</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User Identity Management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Store user details, contact information and KYC verification status. The supported KYC states are PENDING, VERIFIED and REJECTED.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1"/>
                  </a:ext>
                </a:extLst>
              </a:tr>
              <a:tr h="275209">
                <a:tc>
                  <a:txBody>
                    <a:bodyPr/>
                    <a:lstStyle/>
                    <a:p>
                      <a:r>
                        <a:rPr sz="950" b="1" i="0">
                          <a:solidFill>
                            <a:srgbClr val="14233F"/>
                          </a:solidFill>
                          <a:latin typeface="Calibri"/>
                        </a:rPr>
                        <a:t>FR-02</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Multi-Account Ownership</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Allow a user to maintain multiple bank accounts associated with different banks. Each account must be linked to the appropriate user.</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2"/>
                  </a:ext>
                </a:extLst>
              </a:tr>
              <a:tr h="422402">
                <a:tc>
                  <a:txBody>
                    <a:bodyPr/>
                    <a:lstStyle/>
                    <a:p>
                      <a:r>
                        <a:rPr sz="950" b="1" i="0">
                          <a:solidFill>
                            <a:srgbClr val="14233F"/>
                          </a:solidFill>
                          <a:latin typeface="Calibri"/>
                        </a:rPr>
                        <a:t>FR-03</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Gateway Routing and Payment Profiles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Store payment gateway configurations, fee structures and user payment profiles, including daily transaction limits, per-transaction limits and two-factor authentication status.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3"/>
                  </a:ext>
                </a:extLst>
              </a:tr>
              <a:tr h="422402">
                <a:tc>
                  <a:txBody>
                    <a:bodyPr/>
                    <a:lstStyle/>
                    <a:p>
                      <a:r>
                        <a:rPr sz="950" b="1" i="0">
                          <a:solidFill>
                            <a:srgbClr val="14233F"/>
                          </a:solidFill>
                          <a:latin typeface="Calibri"/>
                        </a:rPr>
                        <a:t>FR-04</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Idempotent Transaction Logging</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Record payment requests with unique transaction references and idempotency keys so that duplicate submissions using the same key can be rejected.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4"/>
                  </a:ext>
                </a:extLst>
              </a:tr>
              <a:tr h="422402">
                <a:tc>
                  <a:txBody>
                    <a:bodyPr/>
                    <a:lstStyle/>
                    <a:p>
                      <a:r>
                        <a:rPr sz="950" b="1" i="0">
                          <a:solidFill>
                            <a:srgbClr val="14233F"/>
                          </a:solidFill>
                          <a:latin typeface="Calibri"/>
                        </a:rPr>
                        <a:t>FR-05</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Double-Entry Ledger Recording</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Maintain debit and credit entries for financial transactions. The ledger design must support the accounting rule that total debit entries equal total credit entries for a finalized payment.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5"/>
                  </a:ext>
                </a:extLst>
              </a:tr>
              <a:tr h="275209">
                <a:tc>
                  <a:txBody>
                    <a:bodyPr/>
                    <a:lstStyle/>
                    <a:p>
                      <a:r>
                        <a:rPr sz="950" b="1" i="0">
                          <a:solidFill>
                            <a:srgbClr val="14233F"/>
                          </a:solidFill>
                          <a:latin typeface="Calibri"/>
                        </a:rPr>
                        <a:t>FR-06</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External Settlement Data Management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Store simulated external payment gateway settlement records for comparison with the database's internal transaction records.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6"/>
                  </a:ext>
                </a:extLst>
              </a:tr>
              <a:tr h="275209">
                <a:tc>
                  <a:txBody>
                    <a:bodyPr/>
                    <a:lstStyle/>
                    <a:p>
                      <a:r>
                        <a:rPr sz="950" b="1" i="0">
                          <a:solidFill>
                            <a:srgbClr val="14233F"/>
                          </a:solidFill>
                          <a:latin typeface="Calibri"/>
                        </a:rPr>
                        <a:t>FR-07</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Reconciliation and Exception Identification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Compare internal transactions with external settlement records and identify missing records, amount differences and status mismatches.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7"/>
                  </a:ext>
                </a:extLst>
              </a:tr>
              <a:tr h="275209">
                <a:tc>
                  <a:txBody>
                    <a:bodyPr/>
                    <a:lstStyle/>
                    <a:p>
                      <a:r>
                        <a:rPr sz="950" b="1" i="0">
                          <a:solidFill>
                            <a:srgbClr val="14233F"/>
                          </a:solidFill>
                          <a:latin typeface="Calibri"/>
                        </a:rPr>
                        <a:t>FR-08</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Audit Trail Management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Maintain audit information for relevant administrative changes, account status changes and transaction state changes.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548640" y="5766993"/>
            <a:ext cx="11094415" cy="359156"/>
          </a:xfrm>
          <a:prstGeom prst="rect">
            <a:avLst/>
          </a:prstGeom>
          <a:noFill/>
        </p:spPr>
        <p:txBody>
          <a:bodyPr wrap="square" lIns="0" tIns="0" rIns="0" bIns="0" anchor="t">
            <a:spAutoFit/>
          </a:bodyPr>
          <a:lstStyle/>
          <a:p>
            <a:r>
              <a:rPr sz="1100" b="0" i="0">
                <a:solidFill>
                  <a:srgbClr val="263040"/>
                </a:solidFill>
                <a:latin typeface="Calibri"/>
              </a:rPr>
              <a:t>These functional requirements guide the design of the database tables, relationships, SQL statements and validation rules. The external settlement records in this academic project are simulated; the system does not connect to live banking or payment gateway APIs.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2.2 Non-Functional Requirements</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6</a:t>
            </a:r>
          </a:p>
        </p:txBody>
      </p:sp>
      <p:sp>
        <p:nvSpPr>
          <p:cNvPr id="5" name="TextBox 4"/>
          <p:cNvSpPr txBox="1"/>
          <p:nvPr/>
        </p:nvSpPr>
        <p:spPr>
          <a:xfrm>
            <a:off x="548640" y="1481328"/>
            <a:ext cx="11094415" cy="421131"/>
          </a:xfrm>
          <a:prstGeom prst="rect">
            <a:avLst/>
          </a:prstGeom>
          <a:noFill/>
        </p:spPr>
        <p:txBody>
          <a:bodyPr wrap="square" lIns="0" tIns="0" rIns="0" bIns="0" anchor="t">
            <a:spAutoFit/>
          </a:bodyPr>
          <a:lstStyle/>
          <a:p>
            <a:r>
              <a:rPr sz="1300" b="0" i="0">
                <a:solidFill>
                  <a:srgbClr val="263040"/>
                </a:solidFill>
                <a:latin typeface="Calibri"/>
              </a:rPr>
              <a:t>Non-functional requirements describe the quality, reliability, security and design characteristics expected from the database system. They specify how the database should maintain financial correctness and organize data rather than describing individual user operations.</a:t>
            </a:r>
          </a:p>
        </p:txBody>
      </p:sp>
      <p:graphicFrame>
        <p:nvGraphicFramePr>
          <p:cNvPr id="6" name="Table"/>
          <p:cNvGraphicFramePr>
            <a:graphicFrameLocks noGrp="1"/>
          </p:cNvGraphicFramePr>
          <p:nvPr/>
        </p:nvGraphicFramePr>
        <p:xfrm>
          <a:off x="548640" y="1993899"/>
          <a:ext cx="11094414" cy="3390646"/>
        </p:xfrm>
        <a:graphic>
          <a:graphicData uri="http://schemas.openxmlformats.org/drawingml/2006/table">
            <a:tbl>
              <a:tblPr>
                <a:tableStyleId>{5C22544A-7EE6-4342-B048-85BDC9FD1C3A}</a:tableStyleId>
              </a:tblPr>
              <a:tblGrid>
                <a:gridCol w="1506923">
                  <a:extLst>
                    <a:ext uri="{9D8B030D-6E8A-4147-A177-3AD203B41FA5}">
                      <a16:colId xmlns:a16="http://schemas.microsoft.com/office/drawing/2014/main" val="20000"/>
                    </a:ext>
                  </a:extLst>
                </a:gridCol>
                <a:gridCol w="1872537">
                  <a:extLst>
                    <a:ext uri="{9D8B030D-6E8A-4147-A177-3AD203B41FA5}">
                      <a16:colId xmlns:a16="http://schemas.microsoft.com/office/drawing/2014/main" val="20001"/>
                    </a:ext>
                  </a:extLst>
                </a:gridCol>
                <a:gridCol w="7714954">
                  <a:extLst>
                    <a:ext uri="{9D8B030D-6E8A-4147-A177-3AD203B41FA5}">
                      <a16:colId xmlns:a16="http://schemas.microsoft.com/office/drawing/2014/main" val="20002"/>
                    </a:ext>
                  </a:extLst>
                </a:gridCol>
              </a:tblGrid>
              <a:tr h="484378">
                <a:tc>
                  <a:txBody>
                    <a:bodyPr/>
                    <a:lstStyle/>
                    <a:p>
                      <a:r>
                        <a:rPr sz="1150" b="1" i="0">
                          <a:solidFill>
                            <a:srgbClr val="FFFFFF"/>
                          </a:solidFill>
                          <a:latin typeface="Calibri"/>
                        </a:rPr>
                        <a:t>Requirement 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1150" b="1" i="0">
                          <a:solidFill>
                            <a:srgbClr val="FFFFFF"/>
                          </a:solidFill>
                          <a:latin typeface="Calibri"/>
                        </a:rPr>
                        <a:t>Non-functional requirement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1150" b="1" i="0">
                          <a:solidFill>
                            <a:srgbClr val="FFFFFF"/>
                          </a:solidFill>
                          <a:latin typeface="Calibri"/>
                        </a:rPr>
                        <a:t>Description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extLst>
                  <a:ext uri="{0D108BD9-81ED-4DB2-BD59-A6C34878D82A}">
                    <a16:rowId xmlns:a16="http://schemas.microsoft.com/office/drawing/2014/main" val="10000"/>
                  </a:ext>
                </a:extLst>
              </a:tr>
              <a:tr h="484378">
                <a:tc>
                  <a:txBody>
                    <a:bodyPr/>
                    <a:lstStyle/>
                    <a:p>
                      <a:r>
                        <a:rPr sz="1150" b="1" i="0">
                          <a:solidFill>
                            <a:srgbClr val="14233F"/>
                          </a:solidFill>
                          <a:latin typeface="Calibri"/>
                        </a:rPr>
                        <a:t>NFR-01</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150" b="0" i="0">
                          <a:solidFill>
                            <a:srgbClr val="263040"/>
                          </a:solidFill>
                          <a:latin typeface="Calibri"/>
                        </a:rPr>
                        <a:t>ACID Compliance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150" b="0" i="0">
                          <a:solidFill>
                            <a:srgbClr val="263040"/>
                          </a:solidFill>
                          <a:latin typeface="Calibri"/>
                        </a:rPr>
                        <a:t>Financial operations should follow the principles of atomicity, consistency, isolation and durability. Related database changes must be handled as a transaction to avoid partial updates.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1"/>
                  </a:ext>
                </a:extLst>
              </a:tr>
              <a:tr h="484378">
                <a:tc>
                  <a:txBody>
                    <a:bodyPr/>
                    <a:lstStyle/>
                    <a:p>
                      <a:r>
                        <a:rPr sz="1150" b="1" i="0">
                          <a:solidFill>
                            <a:srgbClr val="14233F"/>
                          </a:solidFill>
                          <a:latin typeface="Calibri"/>
                        </a:rPr>
                        <a:t>NFR-02</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150" b="0" i="0">
                          <a:solidFill>
                            <a:srgbClr val="263040"/>
                          </a:solidFill>
                          <a:latin typeface="Calibri"/>
                        </a:rPr>
                        <a:t>Audit and Ledger Protection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150" b="0" i="0">
                          <a:solidFill>
                            <a:srgbClr val="263040"/>
                          </a:solidFill>
                          <a:latin typeface="Calibri"/>
                        </a:rPr>
                        <a:t>Ledger entries and security audit records are intended to be append-only, preserving a traceable history instead of allowing ordinary updates or deletions. This protection requires suitable database permissions and implementation controls.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2"/>
                  </a:ext>
                </a:extLst>
              </a:tr>
              <a:tr h="484378">
                <a:tc>
                  <a:txBody>
                    <a:bodyPr/>
                    <a:lstStyle/>
                    <a:p>
                      <a:r>
                        <a:rPr sz="1150" b="1" i="0">
                          <a:solidFill>
                            <a:srgbClr val="14233F"/>
                          </a:solidFill>
                          <a:latin typeface="Calibri"/>
                        </a:rPr>
                        <a:t>NFR-03</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150" b="0" i="0">
                          <a:solidFill>
                            <a:srgbClr val="263040"/>
                          </a:solidFill>
                          <a:latin typeface="Calibri"/>
                        </a:rPr>
                        <a:t>Duplicate Request Prevention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150" b="0" i="0">
                          <a:solidFill>
                            <a:srgbClr val="263040"/>
                          </a:solidFill>
                          <a:latin typeface="Calibri"/>
                        </a:rPr>
                        <a:t>Unique database constraints on idempotency keys should reject duplicate payment submissions that reuse the same key.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3"/>
                  </a:ext>
                </a:extLst>
              </a:tr>
              <a:tr h="484378">
                <a:tc>
                  <a:txBody>
                    <a:bodyPr/>
                    <a:lstStyle/>
                    <a:p>
                      <a:r>
                        <a:rPr sz="1150" b="1" i="0">
                          <a:solidFill>
                            <a:srgbClr val="14233F"/>
                          </a:solidFill>
                          <a:latin typeface="Calibri"/>
                        </a:rPr>
                        <a:t>NFR-04</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150" b="0" i="0">
                          <a:solidFill>
                            <a:srgbClr val="263040"/>
                          </a:solidFill>
                          <a:latin typeface="Calibri"/>
                        </a:rPr>
                        <a:t>Normalized Relational Design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150" b="0" i="0">
                          <a:solidFill>
                            <a:srgbClr val="263040"/>
                          </a:solidFill>
                          <a:latin typeface="Calibri"/>
                        </a:rPr>
                        <a:t>The database schema should follow Third Normal Form (3NF) where appropriate to reduce data redundancy and prevent insertion, update and deletion anomalies.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4"/>
                  </a:ext>
                </a:extLst>
              </a:tr>
              <a:tr h="484378">
                <a:tc>
                  <a:txBody>
                    <a:bodyPr/>
                    <a:lstStyle/>
                    <a:p>
                      <a:r>
                        <a:rPr sz="1150" b="1" i="0">
                          <a:solidFill>
                            <a:srgbClr val="14233F"/>
                          </a:solidFill>
                          <a:latin typeface="Calibri"/>
                        </a:rPr>
                        <a:t>NFR-05</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150" b="0" i="0">
                          <a:solidFill>
                            <a:srgbClr val="263040"/>
                          </a:solidFill>
                          <a:latin typeface="Calibri"/>
                        </a:rPr>
                        <a:t>Security and Data Privacy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150" b="0" i="0">
                          <a:solidFill>
                            <a:srgbClr val="263040"/>
                          </a:solidFill>
                          <a:latin typeface="Calibri"/>
                        </a:rPr>
                        <a:t>Sensitive bank account information should be displayed in a masked form where full details are unnecessary. The document proposes using SQL functions such as SUBSTR for partial masking.</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5"/>
                  </a:ext>
                </a:extLst>
              </a:tr>
              <a:tr h="484378">
                <a:tc>
                  <a:txBody>
                    <a:bodyPr/>
                    <a:lstStyle/>
                    <a:p>
                      <a:r>
                        <a:rPr sz="1150" b="1" i="0">
                          <a:solidFill>
                            <a:srgbClr val="14233F"/>
                          </a:solidFill>
                          <a:latin typeface="Calibri"/>
                        </a:rPr>
                        <a:t>NFR-06</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150" b="0" i="0">
                          <a:solidFill>
                            <a:srgbClr val="263040"/>
                          </a:solidFill>
                          <a:latin typeface="Calibri"/>
                        </a:rPr>
                        <a:t>Oracle Platform Compatibility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150" b="0" i="0">
                          <a:solidFill>
                            <a:srgbClr val="263040"/>
                          </a:solidFill>
                          <a:latin typeface="Calibri"/>
                        </a:rPr>
                        <a:t>Database definitions and SQL scripts should use Oracle-compatible syntax, targeting Oracle Database 12c or later.</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48640" y="5742297"/>
            <a:ext cx="11094415" cy="421131"/>
          </a:xfrm>
          <a:prstGeom prst="rect">
            <a:avLst/>
          </a:prstGeom>
          <a:noFill/>
        </p:spPr>
        <p:txBody>
          <a:bodyPr wrap="square" lIns="0" tIns="0" rIns="0" bIns="0" anchor="t">
            <a:spAutoFit/>
          </a:bodyPr>
          <a:lstStyle/>
          <a:p>
            <a:r>
              <a:rPr sz="1300" b="0" i="0">
                <a:solidFill>
                  <a:srgbClr val="263040"/>
                </a:solidFill>
                <a:latin typeface="Calibri"/>
              </a:rPr>
              <a:t>These requirements establish the intended design standards for the project. Actual enforcement of properties such as append-only records, transaction isolation and concurrency protection depends on the SQL, permissions and PL/SQL mechanisms implemented and tested.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2.3 Stakeholders and User Roles</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7</a:t>
            </a:r>
          </a:p>
        </p:txBody>
      </p:sp>
      <p:sp>
        <p:nvSpPr>
          <p:cNvPr id="5" name="TextBox 4"/>
          <p:cNvSpPr txBox="1"/>
          <p:nvPr/>
        </p:nvSpPr>
        <p:spPr>
          <a:xfrm>
            <a:off x="548640" y="1481328"/>
            <a:ext cx="11094415" cy="452119"/>
          </a:xfrm>
          <a:prstGeom prst="rect">
            <a:avLst/>
          </a:prstGeom>
          <a:noFill/>
        </p:spPr>
        <p:txBody>
          <a:bodyPr wrap="square" lIns="0" tIns="0" rIns="0" bIns="0" anchor="t">
            <a:spAutoFit/>
          </a:bodyPr>
          <a:lstStyle/>
          <a:p>
            <a:r>
              <a:rPr sz="1400" b="0" i="0">
                <a:solidFill>
                  <a:srgbClr val="263040"/>
                </a:solidFill>
                <a:latin typeface="Calibri"/>
              </a:rPr>
              <a:t>Stakeholders are the individuals or organizations that interact with the payment database or depend on its information. Identifying these roles helps define the data that must be stored and the operations that the database should support.</a:t>
            </a:r>
          </a:p>
        </p:txBody>
      </p:sp>
      <p:graphicFrame>
        <p:nvGraphicFramePr>
          <p:cNvPr id="6" name="Table"/>
          <p:cNvGraphicFramePr>
            <a:graphicFrameLocks noGrp="1"/>
          </p:cNvGraphicFramePr>
          <p:nvPr/>
        </p:nvGraphicFramePr>
        <p:xfrm>
          <a:off x="548640" y="2024887"/>
          <a:ext cx="11094414" cy="2445511"/>
        </p:xfrm>
        <a:graphic>
          <a:graphicData uri="http://schemas.openxmlformats.org/drawingml/2006/table">
            <a:tbl>
              <a:tblPr>
                <a:tableStyleId>{5C22544A-7EE6-4342-B048-85BDC9FD1C3A}</a:tableStyleId>
              </a:tblPr>
              <a:tblGrid>
                <a:gridCol w="2535831">
                  <a:extLst>
                    <a:ext uri="{9D8B030D-6E8A-4147-A177-3AD203B41FA5}">
                      <a16:colId xmlns:a16="http://schemas.microsoft.com/office/drawing/2014/main" val="20000"/>
                    </a:ext>
                  </a:extLst>
                </a:gridCol>
                <a:gridCol w="8558583">
                  <a:extLst>
                    <a:ext uri="{9D8B030D-6E8A-4147-A177-3AD203B41FA5}">
                      <a16:colId xmlns:a16="http://schemas.microsoft.com/office/drawing/2014/main" val="20001"/>
                    </a:ext>
                  </a:extLst>
                </a:gridCol>
              </a:tblGrid>
              <a:tr h="321691">
                <a:tc>
                  <a:txBody>
                    <a:bodyPr/>
                    <a:lstStyle/>
                    <a:p>
                      <a:r>
                        <a:rPr sz="1250" b="1" i="0">
                          <a:solidFill>
                            <a:srgbClr val="FFFFFF"/>
                          </a:solidFill>
                          <a:latin typeface="Calibri"/>
                        </a:rPr>
                        <a:t>Stakeholder</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1250" b="1" i="0">
                          <a:solidFill>
                            <a:srgbClr val="FFFFFF"/>
                          </a:solidFill>
                          <a:latin typeface="Calibri"/>
                        </a:rPr>
                        <a:t>Responsibilities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extLst>
                  <a:ext uri="{0D108BD9-81ED-4DB2-BD59-A6C34878D82A}">
                    <a16:rowId xmlns:a16="http://schemas.microsoft.com/office/drawing/2014/main" val="10000"/>
                  </a:ext>
                </a:extLst>
              </a:tr>
              <a:tr h="321691">
                <a:tc>
                  <a:txBody>
                    <a:bodyPr/>
                    <a:lstStyle/>
                    <a:p>
                      <a:r>
                        <a:rPr sz="1250" b="0" i="0">
                          <a:solidFill>
                            <a:srgbClr val="263040"/>
                          </a:solidFill>
                          <a:latin typeface="Calibri"/>
                        </a:rPr>
                        <a:t>Customer / Payer</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Initiates fund transfers, views transaction statuses, manages linked bank accounts and selects payment gateway preferences.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1"/>
                  </a:ext>
                </a:extLst>
              </a:tr>
              <a:tr h="321691">
                <a:tc>
                  <a:txBody>
                    <a:bodyPr/>
                    <a:lstStyle/>
                    <a:p>
                      <a:r>
                        <a:rPr sz="1250" b="0" i="0">
                          <a:solidFill>
                            <a:srgbClr val="263040"/>
                          </a:solidFill>
                          <a:latin typeface="Calibri"/>
                        </a:rPr>
                        <a:t>Merchant / Payee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Receives payments, monitors incoming credits and checks payment settlement information.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2"/>
                  </a:ext>
                </a:extLst>
              </a:tr>
              <a:tr h="515365">
                <a:tc>
                  <a:txBody>
                    <a:bodyPr/>
                    <a:lstStyle/>
                    <a:p>
                      <a:r>
                        <a:rPr sz="1250" b="0" i="0">
                          <a:solidFill>
                            <a:srgbClr val="263040"/>
                          </a:solidFill>
                          <a:latin typeface="Calibri"/>
                        </a:rPr>
                        <a:t>Payment Gateway Provider</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Acts as an external payment intermediary and supplies settlement reports that can be compared with internal transaction records.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3"/>
                  </a:ext>
                </a:extLst>
              </a:tr>
              <a:tr h="321691">
                <a:tc>
                  <a:txBody>
                    <a:bodyPr/>
                    <a:lstStyle/>
                    <a:p>
                      <a:r>
                        <a:rPr sz="1250" b="0" i="0">
                          <a:solidFill>
                            <a:srgbClr val="263040"/>
                          </a:solidFill>
                          <a:latin typeface="Calibri"/>
                        </a:rPr>
                        <a:t>Database Administrator (DBA)</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Manages the database schema, monitors performance and storage, and reviews audit information.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4"/>
                  </a:ext>
                </a:extLst>
              </a:tr>
              <a:tr h="321691">
                <a:tc>
                  <a:txBody>
                    <a:bodyPr/>
                    <a:lstStyle/>
                    <a:p>
                      <a:r>
                        <a:rPr sz="1250" b="0" i="0">
                          <a:solidFill>
                            <a:srgbClr val="263040"/>
                          </a:solidFill>
                          <a:latin typeface="Calibri"/>
                        </a:rPr>
                        <a:t>Compliance and AML Officer</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Reviews transaction histories, examines ledger records and investigates potentially suspicious activities.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5"/>
                  </a:ext>
                </a:extLst>
              </a:tr>
              <a:tr h="321691">
                <a:tc>
                  <a:txBody>
                    <a:bodyPr/>
                    <a:lstStyle/>
                    <a:p>
                      <a:r>
                        <a:rPr sz="1250" b="0" i="0">
                          <a:solidFill>
                            <a:srgbClr val="263040"/>
                          </a:solidFill>
                          <a:latin typeface="Calibri"/>
                        </a:rPr>
                        <a:t>Financial Reconciliation Analyst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Examines reconciliation results, investigates discrepancies and reviews the records requiring corrective action.</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48640" y="4799797"/>
            <a:ext cx="11094415" cy="452119"/>
          </a:xfrm>
          <a:prstGeom prst="rect">
            <a:avLst/>
          </a:prstGeom>
          <a:noFill/>
        </p:spPr>
        <p:txBody>
          <a:bodyPr wrap="square" lIns="0" tIns="0" rIns="0" bIns="0" anchor="t">
            <a:spAutoFit/>
          </a:bodyPr>
          <a:lstStyle/>
          <a:p>
            <a:r>
              <a:rPr sz="1400" b="0" i="0">
                <a:solidFill>
                  <a:srgbClr val="263040"/>
                </a:solidFill>
                <a:latin typeface="Calibri"/>
              </a:rPr>
              <a:t>Although these roles represent the intended users of the system, this project concentrates on the database layer. It does not include a separate application interface for each stakeholder.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2.4 Business Rules</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8</a:t>
            </a:r>
          </a:p>
        </p:txBody>
      </p:sp>
      <p:sp>
        <p:nvSpPr>
          <p:cNvPr id="5" name="TextBox 4"/>
          <p:cNvSpPr txBox="1"/>
          <p:nvPr/>
        </p:nvSpPr>
        <p:spPr>
          <a:xfrm>
            <a:off x="548640" y="1481328"/>
            <a:ext cx="11094415" cy="452119"/>
          </a:xfrm>
          <a:prstGeom prst="rect">
            <a:avLst/>
          </a:prstGeom>
          <a:noFill/>
        </p:spPr>
        <p:txBody>
          <a:bodyPr wrap="square" lIns="0" tIns="0" rIns="0" bIns="0" anchor="t">
            <a:spAutoFit/>
          </a:bodyPr>
          <a:lstStyle/>
          <a:p>
            <a:r>
              <a:rPr sz="1400" b="0" i="0">
                <a:solidFill>
                  <a:srgbClr val="263040"/>
                </a:solidFill>
                <a:latin typeface="Calibri"/>
              </a:rPr>
              <a:t>Business rules define the conditions that must be satisfied when financial records are created or modified. They help maintain consistency, prevent invalid data and establish the accounting requirements of the proposed database.</a:t>
            </a:r>
          </a:p>
        </p:txBody>
      </p:sp>
      <p:sp>
        <p:nvSpPr>
          <p:cNvPr id="6" name="TextBox 5"/>
          <p:cNvSpPr txBox="1"/>
          <p:nvPr/>
        </p:nvSpPr>
        <p:spPr>
          <a:xfrm>
            <a:off x="548640" y="2024887"/>
            <a:ext cx="11094415" cy="235204"/>
          </a:xfrm>
          <a:prstGeom prst="rect">
            <a:avLst/>
          </a:prstGeom>
          <a:noFill/>
        </p:spPr>
        <p:txBody>
          <a:bodyPr wrap="square" lIns="0" tIns="0" rIns="0" bIns="0" anchor="t">
            <a:spAutoFit/>
          </a:bodyPr>
          <a:lstStyle/>
          <a:p>
            <a:r>
              <a:rPr sz="1400" b="0" i="0">
                <a:solidFill>
                  <a:srgbClr val="263040"/>
                </a:solidFill>
                <a:latin typeface="Calibri"/>
              </a:rPr>
              <a:t>The following rules are derived from the business rules section of the project document.</a:t>
            </a:r>
          </a:p>
        </p:txBody>
      </p:sp>
      <p:graphicFrame>
        <p:nvGraphicFramePr>
          <p:cNvPr id="7" name="Table"/>
          <p:cNvGraphicFramePr>
            <a:graphicFrameLocks noGrp="1"/>
          </p:cNvGraphicFramePr>
          <p:nvPr/>
        </p:nvGraphicFramePr>
        <p:xfrm>
          <a:off x="548640" y="2351531"/>
          <a:ext cx="11094413" cy="3607557"/>
        </p:xfrm>
        <a:graphic>
          <a:graphicData uri="http://schemas.openxmlformats.org/drawingml/2006/table">
            <a:tbl>
              <a:tblPr>
                <a:tableStyleId>{5C22544A-7EE6-4342-B048-85BDC9FD1C3A}</a:tableStyleId>
              </a:tblPr>
              <a:tblGrid>
                <a:gridCol w="890284">
                  <a:extLst>
                    <a:ext uri="{9D8B030D-6E8A-4147-A177-3AD203B41FA5}">
                      <a16:colId xmlns:a16="http://schemas.microsoft.com/office/drawing/2014/main" val="20000"/>
                    </a:ext>
                  </a:extLst>
                </a:gridCol>
                <a:gridCol w="7008799">
                  <a:extLst>
                    <a:ext uri="{9D8B030D-6E8A-4147-A177-3AD203B41FA5}">
                      <a16:colId xmlns:a16="http://schemas.microsoft.com/office/drawing/2014/main" val="20001"/>
                    </a:ext>
                  </a:extLst>
                </a:gridCol>
                <a:gridCol w="3195330">
                  <a:extLst>
                    <a:ext uri="{9D8B030D-6E8A-4147-A177-3AD203B41FA5}">
                      <a16:colId xmlns:a16="http://schemas.microsoft.com/office/drawing/2014/main" val="20002"/>
                    </a:ext>
                  </a:extLst>
                </a:gridCol>
              </a:tblGrid>
              <a:tr h="321691">
                <a:tc>
                  <a:txBody>
                    <a:bodyPr/>
                    <a:lstStyle/>
                    <a:p>
                      <a:r>
                        <a:rPr sz="1250" b="1" i="0">
                          <a:solidFill>
                            <a:srgbClr val="FFFFFF"/>
                          </a:solidFill>
                          <a:latin typeface="Calibri"/>
                        </a:rPr>
                        <a:t>Rule 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1250" b="1" i="0">
                          <a:solidFill>
                            <a:srgbClr val="FFFFFF"/>
                          </a:solidFill>
                          <a:latin typeface="Calibri"/>
                        </a:rPr>
                        <a:t>Business rule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1250" b="1" i="0">
                          <a:solidFill>
                            <a:srgbClr val="FFFFFF"/>
                          </a:solidFill>
                          <a:latin typeface="Calibri"/>
                        </a:rPr>
                        <a:t>Purpose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extLst>
                  <a:ext uri="{0D108BD9-81ED-4DB2-BD59-A6C34878D82A}">
                    <a16:rowId xmlns:a16="http://schemas.microsoft.com/office/drawing/2014/main" val="10000"/>
                  </a:ext>
                </a:extLst>
              </a:tr>
              <a:tr h="515365">
                <a:tc>
                  <a:txBody>
                    <a:bodyPr/>
                    <a:lstStyle/>
                    <a:p>
                      <a:r>
                        <a:rPr sz="1250" b="1" i="0">
                          <a:solidFill>
                            <a:srgbClr val="14233F"/>
                          </a:solidFill>
                          <a:latin typeface="Calibri"/>
                        </a:rPr>
                        <a:t>BR-01</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Double-entry bookkeeping: For every finalized payment, debit and credit ledger entries must balance, such that total debits equal total credits.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Maintains accounting consistency.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1"/>
                  </a:ext>
                </a:extLst>
              </a:tr>
              <a:tr h="515365">
                <a:tc>
                  <a:txBody>
                    <a:bodyPr/>
                    <a:lstStyle/>
                    <a:p>
                      <a:r>
                        <a:rPr sz="1250" b="1" i="0">
                          <a:solidFill>
                            <a:srgbClr val="14233F"/>
                          </a:solidFill>
                          <a:latin typeface="Calibri"/>
                        </a:rPr>
                        <a:t>BR-02</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Non-negative account balance: An account balance must not fall below ₹0.00 unless an explicitly supported overdraft arrangement applies.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Prevents invalid negative balances under the project's standard account rules.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2"/>
                  </a:ext>
                </a:extLst>
              </a:tr>
              <a:tr h="515365">
                <a:tc>
                  <a:txBody>
                    <a:bodyPr/>
                    <a:lstStyle/>
                    <a:p>
                      <a:r>
                        <a:rPr sz="1250" b="1" i="0">
                          <a:solidFill>
                            <a:srgbClr val="14233F"/>
                          </a:solidFill>
                          <a:latin typeface="Calibri"/>
                        </a:rPr>
                        <a:t>BR-03</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Distinct transfer accounts: The sender's account and receiver's account must be different.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Prevents a transfer from being recorded between the same account.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3"/>
                  </a:ext>
                </a:extLst>
              </a:tr>
              <a:tr h="515365">
                <a:tc>
                  <a:txBody>
                    <a:bodyPr/>
                    <a:lstStyle/>
                    <a:p>
                      <a:r>
                        <a:rPr sz="1250" b="1" i="0">
                          <a:solidFill>
                            <a:srgbClr val="14233F"/>
                          </a:solidFill>
                          <a:latin typeface="Calibri"/>
                        </a:rPr>
                        <a:t>BR-04</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Positive transaction amount: Every payment transaction and ledger entry must have an amount greater than zero.</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Rejects zero-value and negative-value entries.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4"/>
                  </a:ext>
                </a:extLst>
              </a:tr>
              <a:tr h="709041">
                <a:tc>
                  <a:txBody>
                    <a:bodyPr/>
                    <a:lstStyle/>
                    <a:p>
                      <a:r>
                        <a:rPr sz="1250" b="1" i="0">
                          <a:solidFill>
                            <a:srgbClr val="14233F"/>
                          </a:solidFill>
                          <a:latin typeface="Calibri"/>
                        </a:rPr>
                        <a:t>BR-05</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Unique idempotency key: An idempotency key must be unique across the database.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Helps prevent duplicate transaction records when the same request is submitted repeatedly.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5"/>
                  </a:ext>
                </a:extLst>
              </a:tr>
              <a:tr h="515365">
                <a:tc>
                  <a:txBody>
                    <a:bodyPr/>
                    <a:lstStyle/>
                    <a:p>
                      <a:r>
                        <a:rPr sz="1250" b="1" i="0">
                          <a:solidFill>
                            <a:srgbClr val="14233F"/>
                          </a:solidFill>
                          <a:latin typeface="Calibri"/>
                        </a:rPr>
                        <a:t>BR-06</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Gateway-scoped external reference: An external reference must be unique within its payment gateway, using the combination of gateway ID and external reference 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Prevents duplicate external references within the same gateway.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2.4 Business Rules (cont.)</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9</a:t>
            </a:r>
          </a:p>
        </p:txBody>
      </p:sp>
      <p:graphicFrame>
        <p:nvGraphicFramePr>
          <p:cNvPr id="5" name="Table"/>
          <p:cNvGraphicFramePr>
            <a:graphicFrameLocks noGrp="1"/>
          </p:cNvGraphicFramePr>
          <p:nvPr/>
        </p:nvGraphicFramePr>
        <p:xfrm>
          <a:off x="548640" y="1481328"/>
          <a:ext cx="11094413" cy="2770503"/>
        </p:xfrm>
        <a:graphic>
          <a:graphicData uri="http://schemas.openxmlformats.org/drawingml/2006/table">
            <a:tbl>
              <a:tblPr>
                <a:tableStyleId>{5C22544A-7EE6-4342-B048-85BDC9FD1C3A}</a:tableStyleId>
              </a:tblPr>
              <a:tblGrid>
                <a:gridCol w="890284">
                  <a:extLst>
                    <a:ext uri="{9D8B030D-6E8A-4147-A177-3AD203B41FA5}">
                      <a16:colId xmlns:a16="http://schemas.microsoft.com/office/drawing/2014/main" val="20000"/>
                    </a:ext>
                  </a:extLst>
                </a:gridCol>
                <a:gridCol w="7008799">
                  <a:extLst>
                    <a:ext uri="{9D8B030D-6E8A-4147-A177-3AD203B41FA5}">
                      <a16:colId xmlns:a16="http://schemas.microsoft.com/office/drawing/2014/main" val="20001"/>
                    </a:ext>
                  </a:extLst>
                </a:gridCol>
                <a:gridCol w="3195330">
                  <a:extLst>
                    <a:ext uri="{9D8B030D-6E8A-4147-A177-3AD203B41FA5}">
                      <a16:colId xmlns:a16="http://schemas.microsoft.com/office/drawing/2014/main" val="20002"/>
                    </a:ext>
                  </a:extLst>
                </a:gridCol>
              </a:tblGrid>
              <a:tr h="321691">
                <a:tc>
                  <a:txBody>
                    <a:bodyPr/>
                    <a:lstStyle/>
                    <a:p>
                      <a:r>
                        <a:rPr sz="1250" b="1" i="0">
                          <a:solidFill>
                            <a:srgbClr val="FFFFFF"/>
                          </a:solidFill>
                          <a:latin typeface="Calibri"/>
                        </a:rPr>
                        <a:t>Rule 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1250" b="1" i="0">
                          <a:solidFill>
                            <a:srgbClr val="FFFFFF"/>
                          </a:solidFill>
                          <a:latin typeface="Calibri"/>
                        </a:rPr>
                        <a:t>Business rule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1250" b="1" i="0">
                          <a:solidFill>
                            <a:srgbClr val="FFFFFF"/>
                          </a:solidFill>
                          <a:latin typeface="Calibri"/>
                        </a:rPr>
                        <a:t>Purpose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extLst>
                  <a:ext uri="{0D108BD9-81ED-4DB2-BD59-A6C34878D82A}">
                    <a16:rowId xmlns:a16="http://schemas.microsoft.com/office/drawing/2014/main" val="10000"/>
                  </a:ext>
                </a:extLst>
              </a:tr>
              <a:tr h="709041">
                <a:tc>
                  <a:txBody>
                    <a:bodyPr/>
                    <a:lstStyle/>
                    <a:p>
                      <a:r>
                        <a:rPr sz="1250" b="1" i="0">
                          <a:solidFill>
                            <a:srgbClr val="14233F"/>
                          </a:solidFill>
                          <a:latin typeface="Calibri"/>
                        </a:rPr>
                        <a:t>BR-07</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Valid transaction status: Transaction statuses must use the permitted values INITIATED, PROCESSING, SUCCESS, FAILED or REVERSED.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Keeps transaction states consistent. Permitted transitions between states require additional logic.</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1"/>
                  </a:ext>
                </a:extLst>
              </a:tr>
              <a:tr h="515365">
                <a:tc>
                  <a:txBody>
                    <a:bodyPr/>
                    <a:lstStyle/>
                    <a:p>
                      <a:r>
                        <a:rPr sz="1250" b="1" i="0">
                          <a:solidFill>
                            <a:srgbClr val="14233F"/>
                          </a:solidFill>
                          <a:latin typeface="Calibri"/>
                        </a:rPr>
                        <a:t>BR-08</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Transaction limits: A transaction must not exceed the user's configured per-transaction limit or applicable daily limit.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Supports payment limit enforcement.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2"/>
                  </a:ext>
                </a:extLst>
              </a:tr>
              <a:tr h="709041">
                <a:tc>
                  <a:txBody>
                    <a:bodyPr/>
                    <a:lstStyle/>
                    <a:p>
                      <a:r>
                        <a:rPr sz="1250" b="1" i="0">
                          <a:solidFill>
                            <a:srgbClr val="14233F"/>
                          </a:solidFill>
                          <a:latin typeface="Calibri"/>
                        </a:rPr>
                        <a:t>BR-09</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Reconciliation discrepancy classification: Differences between internal transaction records and external settlement records must be classified as AMOUNT_MISMATCH, STATUS_MISMATCH, MISSING_IN_GATEWAY or MISSING_IN_INTERNAL.</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Makes discrepancies easier to investigate and report.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3"/>
                  </a:ext>
                </a:extLst>
              </a:tr>
              <a:tr h="515365">
                <a:tc>
                  <a:txBody>
                    <a:bodyPr/>
                    <a:lstStyle/>
                    <a:p>
                      <a:r>
                        <a:rPr sz="1250" b="1" i="0">
                          <a:solidFill>
                            <a:srgbClr val="14233F"/>
                          </a:solidFill>
                          <a:latin typeface="Calibri"/>
                        </a:rPr>
                        <a:t>BR-10</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Audit tracking: Relevant administrative changes, account status changes and transaction state changes must record the acting database user, timestamp and change details.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Supports traceability and auditing.</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2.4 BUSINESS RULES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How these business rules will be enforced</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10</a:t>
            </a:r>
          </a:p>
        </p:txBody>
      </p:sp>
      <p:sp>
        <p:nvSpPr>
          <p:cNvPr id="6" name="TextBox 5"/>
          <p:cNvSpPr txBox="1"/>
          <p:nvPr/>
        </p:nvSpPr>
        <p:spPr>
          <a:xfrm>
            <a:off x="548640" y="1481328"/>
            <a:ext cx="5364327" cy="250698"/>
          </a:xfrm>
          <a:prstGeom prst="rect">
            <a:avLst/>
          </a:prstGeom>
          <a:noFill/>
        </p:spPr>
        <p:txBody>
          <a:bodyPr wrap="square" lIns="0" tIns="0" rIns="0" bIns="0" anchor="t">
            <a:spAutoFit/>
          </a:bodyPr>
          <a:lstStyle/>
          <a:p>
            <a:r>
              <a:rPr sz="1500" b="0" i="0">
                <a:solidFill>
                  <a:srgbClr val="263040"/>
                </a:solidFill>
                <a:latin typeface="Calibri"/>
              </a:rPr>
              <a:t>Different rules require different database mechanisms:</a:t>
            </a:r>
          </a:p>
        </p:txBody>
      </p:sp>
      <p:sp>
        <p:nvSpPr>
          <p:cNvPr id="7" name="Card"/>
          <p:cNvSpPr/>
          <p:nvPr/>
        </p:nvSpPr>
        <p:spPr>
          <a:xfrm>
            <a:off x="548640" y="1823466"/>
            <a:ext cx="5364327" cy="68341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940509"/>
            <a:ext cx="5071719" cy="449326"/>
          </a:xfrm>
          <a:prstGeom prst="rect">
            <a:avLst/>
          </a:prstGeom>
          <a:noFill/>
        </p:spPr>
        <p:txBody>
          <a:bodyPr wrap="square" lIns="0" tIns="0" rIns="0" bIns="0" anchor="t">
            <a:spAutoFit/>
          </a:bodyPr>
          <a:lstStyle/>
          <a:p>
            <a:r>
              <a:rPr sz="1450" b="1" i="0">
                <a:solidFill>
                  <a:srgbClr val="0B7A75"/>
                </a:solidFill>
                <a:latin typeface="Calibri"/>
              </a:rPr>
              <a:t>Primary key, foreign key and unique constraints: </a:t>
            </a:r>
            <a:r>
              <a:rPr sz="1450" b="0" i="0">
                <a:solidFill>
                  <a:srgbClr val="263040"/>
                </a:solidFill>
                <a:latin typeface="Calibri"/>
              </a:rPr>
              <a:t>Enforce identity, relationships and uniqueness.</a:t>
            </a:r>
          </a:p>
        </p:txBody>
      </p:sp>
      <p:sp>
        <p:nvSpPr>
          <p:cNvPr id="9" name="Card"/>
          <p:cNvSpPr/>
          <p:nvPr/>
        </p:nvSpPr>
        <p:spPr>
          <a:xfrm>
            <a:off x="548640" y="2616606"/>
            <a:ext cx="5364327" cy="68341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 y="2733649"/>
            <a:ext cx="5071719" cy="449326"/>
          </a:xfrm>
          <a:prstGeom prst="rect">
            <a:avLst/>
          </a:prstGeom>
          <a:noFill/>
        </p:spPr>
        <p:txBody>
          <a:bodyPr wrap="square" lIns="0" tIns="0" rIns="0" bIns="0" anchor="t">
            <a:spAutoFit/>
          </a:bodyPr>
          <a:lstStyle/>
          <a:p>
            <a:r>
              <a:rPr sz="1450" b="1" i="0">
                <a:solidFill>
                  <a:srgbClr val="0B7A75"/>
                </a:solidFill>
                <a:latin typeface="Calibri"/>
              </a:rPr>
              <a:t>CHECK constraints: </a:t>
            </a:r>
            <a:r>
              <a:rPr sz="1450" b="0" i="0">
                <a:solidFill>
                  <a:srgbClr val="263040"/>
                </a:solidFill>
                <a:latin typeface="Calibri"/>
              </a:rPr>
              <a:t>Enforce conditions such as positive transaction amounts and non-negative balances.</a:t>
            </a:r>
          </a:p>
        </p:txBody>
      </p:sp>
      <p:sp>
        <p:nvSpPr>
          <p:cNvPr id="11" name="Card"/>
          <p:cNvSpPr/>
          <p:nvPr/>
        </p:nvSpPr>
        <p:spPr>
          <a:xfrm>
            <a:off x="548640" y="3409746"/>
            <a:ext cx="5364327" cy="68341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 y="3526790"/>
            <a:ext cx="5071719" cy="449326"/>
          </a:xfrm>
          <a:prstGeom prst="rect">
            <a:avLst/>
          </a:prstGeom>
          <a:noFill/>
        </p:spPr>
        <p:txBody>
          <a:bodyPr wrap="square" lIns="0" tIns="0" rIns="0" bIns="0" anchor="t">
            <a:spAutoFit/>
          </a:bodyPr>
          <a:lstStyle/>
          <a:p>
            <a:r>
              <a:rPr sz="1450" b="1" i="0">
                <a:solidFill>
                  <a:srgbClr val="0B7A75"/>
                </a:solidFill>
                <a:latin typeface="Calibri"/>
              </a:rPr>
              <a:t>NOT NULL and DEFAULT constraints: </a:t>
            </a:r>
            <a:r>
              <a:rPr sz="1450" b="0" i="0">
                <a:solidFill>
                  <a:srgbClr val="263040"/>
                </a:solidFill>
                <a:latin typeface="Calibri"/>
              </a:rPr>
              <a:t>Ensure required information is present and provide default values where specified.</a:t>
            </a:r>
          </a:p>
        </p:txBody>
      </p:sp>
      <p:sp>
        <p:nvSpPr>
          <p:cNvPr id="13" name="Card"/>
          <p:cNvSpPr/>
          <p:nvPr/>
        </p:nvSpPr>
        <p:spPr>
          <a:xfrm>
            <a:off x="6278727" y="1481328"/>
            <a:ext cx="5364327" cy="68341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5031" y="1598371"/>
            <a:ext cx="5071719" cy="449326"/>
          </a:xfrm>
          <a:prstGeom prst="rect">
            <a:avLst/>
          </a:prstGeom>
          <a:noFill/>
        </p:spPr>
        <p:txBody>
          <a:bodyPr wrap="square" lIns="0" tIns="0" rIns="0" bIns="0" anchor="t">
            <a:spAutoFit/>
          </a:bodyPr>
          <a:lstStyle/>
          <a:p>
            <a:r>
              <a:rPr sz="1450" b="1" i="0">
                <a:solidFill>
                  <a:srgbClr val="0B7A75"/>
                </a:solidFill>
                <a:latin typeface="Calibri"/>
              </a:rPr>
              <a:t>SQL queries: </a:t>
            </a:r>
            <a:r>
              <a:rPr sz="1450" b="0" i="0">
                <a:solidFill>
                  <a:srgbClr val="263040"/>
                </a:solidFill>
                <a:latin typeface="Calibri"/>
              </a:rPr>
              <a:t>Identify mismatches between internal transactions and external settlement records.</a:t>
            </a:r>
          </a:p>
        </p:txBody>
      </p:sp>
      <p:sp>
        <p:nvSpPr>
          <p:cNvPr id="15" name="Card"/>
          <p:cNvSpPr/>
          <p:nvPr/>
        </p:nvSpPr>
        <p:spPr>
          <a:xfrm>
            <a:off x="6278727" y="2274468"/>
            <a:ext cx="5364327" cy="1132738"/>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5031" y="2391511"/>
            <a:ext cx="5071719" cy="898652"/>
          </a:xfrm>
          <a:prstGeom prst="rect">
            <a:avLst/>
          </a:prstGeom>
          <a:noFill/>
        </p:spPr>
        <p:txBody>
          <a:bodyPr wrap="square" lIns="0" tIns="0" rIns="0" bIns="0" anchor="t">
            <a:spAutoFit/>
          </a:bodyPr>
          <a:lstStyle/>
          <a:p>
            <a:r>
              <a:rPr sz="1450" b="1" i="0">
                <a:solidFill>
                  <a:srgbClr val="0B7A75"/>
                </a:solidFill>
                <a:latin typeface="Calibri"/>
              </a:rPr>
              <a:t>PL/SQL procedures and triggers: </a:t>
            </a:r>
            <a:r>
              <a:rPr sz="1450" b="0" i="0">
                <a:solidFill>
                  <a:srgbClr val="263040"/>
                </a:solidFill>
                <a:latin typeface="Calibri"/>
              </a:rPr>
              <a:t>Can enforce more complex transaction workflows, state transitions, audit logging and other rules that cannot be fully expressed using ordinary declarative constraints.</a:t>
            </a:r>
          </a:p>
        </p:txBody>
      </p:sp>
      <p:sp>
        <p:nvSpPr>
          <p:cNvPr id="17" name="TextBox 16"/>
          <p:cNvSpPr txBox="1"/>
          <p:nvPr/>
        </p:nvSpPr>
        <p:spPr>
          <a:xfrm>
            <a:off x="6278727" y="3516934"/>
            <a:ext cx="5364327" cy="947928"/>
          </a:xfrm>
          <a:prstGeom prst="rect">
            <a:avLst/>
          </a:prstGeom>
          <a:noFill/>
        </p:spPr>
        <p:txBody>
          <a:bodyPr wrap="square" lIns="0" tIns="0" rIns="0" bIns="0" anchor="t">
            <a:spAutoFit/>
          </a:bodyPr>
          <a:lstStyle/>
          <a:p>
            <a:r>
              <a:rPr sz="1500" b="0" i="0">
                <a:solidFill>
                  <a:srgbClr val="263040"/>
                </a:solidFill>
                <a:latin typeface="Calibri"/>
              </a:rPr>
              <a:t>Some rules, particularly balanced double-entry posting, daily transaction limits and append-only ledger protection, require more than a basic column constraint. Their complete enforcement must be demonstrated through suitable implementation and testing.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3. Entities, Attributes and Keys</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11</a:t>
            </a:r>
          </a:p>
        </p:txBody>
      </p:sp>
      <p:sp>
        <p:nvSpPr>
          <p:cNvPr id="5" name="TextBox 4"/>
          <p:cNvSpPr txBox="1"/>
          <p:nvPr/>
        </p:nvSpPr>
        <p:spPr>
          <a:xfrm>
            <a:off x="548640" y="1481328"/>
            <a:ext cx="5364327" cy="354837"/>
          </a:xfrm>
          <a:prstGeom prst="rect">
            <a:avLst/>
          </a:prstGeom>
          <a:noFill/>
        </p:spPr>
        <p:txBody>
          <a:bodyPr wrap="square" lIns="0" tIns="0" rIns="0" bIns="0" anchor="t">
            <a:spAutoFit/>
          </a:bodyPr>
          <a:lstStyle/>
          <a:p>
            <a:r>
              <a:rPr sz="1700" b="1" i="0">
                <a:solidFill>
                  <a:srgbClr val="14233F"/>
                </a:solidFill>
                <a:latin typeface="Calibri"/>
              </a:rPr>
              <a:t>3.1 Introduction</a:t>
            </a:r>
          </a:p>
        </p:txBody>
      </p:sp>
      <p:sp>
        <p:nvSpPr>
          <p:cNvPr id="6" name="TextBox 5"/>
          <p:cNvSpPr txBox="1"/>
          <p:nvPr/>
        </p:nvSpPr>
        <p:spPr>
          <a:xfrm>
            <a:off x="548640" y="1836166"/>
            <a:ext cx="5364327" cy="1180337"/>
          </a:xfrm>
          <a:prstGeom prst="rect">
            <a:avLst/>
          </a:prstGeom>
          <a:noFill/>
        </p:spPr>
        <p:txBody>
          <a:bodyPr wrap="square" lIns="0" tIns="0" rIns="0" bIns="0" anchor="t">
            <a:spAutoFit/>
          </a:bodyPr>
          <a:lstStyle/>
          <a:p>
            <a:r>
              <a:rPr sz="1500" b="0" i="0">
                <a:solidFill>
                  <a:srgbClr val="263040"/>
                </a:solidFill>
                <a:latin typeface="Calibri"/>
              </a:rPr>
              <a:t>Entities, attributes and keys form the foundation of relational database design. An entity represents an object or concept about which the database stores information. Attributes describe the properties of an entity, while keys uniquely identify records and establish relationships between tables.</a:t>
            </a:r>
          </a:p>
        </p:txBody>
      </p:sp>
      <p:sp>
        <p:nvSpPr>
          <p:cNvPr id="7" name="TextBox 6"/>
          <p:cNvSpPr txBox="1"/>
          <p:nvPr/>
        </p:nvSpPr>
        <p:spPr>
          <a:xfrm>
            <a:off x="6278727" y="1481328"/>
            <a:ext cx="5364327" cy="947928"/>
          </a:xfrm>
          <a:prstGeom prst="rect">
            <a:avLst/>
          </a:prstGeom>
          <a:noFill/>
        </p:spPr>
        <p:txBody>
          <a:bodyPr wrap="square" lIns="0" tIns="0" rIns="0" bIns="0" anchor="t">
            <a:spAutoFit/>
          </a:bodyPr>
          <a:lstStyle/>
          <a:p>
            <a:r>
              <a:rPr sz="1500" b="0" i="0">
                <a:solidFill>
                  <a:srgbClr val="263040"/>
                </a:solidFill>
                <a:latin typeface="Calibri"/>
              </a:rPr>
              <a:t>In this project, the database is designed to manage users, bank accounts, payment gateways, payment transactions, financial ledger entries, external settlement records, reconciliation batches, exceptions and audit information.</a:t>
            </a:r>
          </a:p>
        </p:txBody>
      </p:sp>
      <p:sp>
        <p:nvSpPr>
          <p:cNvPr id="8" name="TextBox 7"/>
          <p:cNvSpPr txBox="1"/>
          <p:nvPr/>
        </p:nvSpPr>
        <p:spPr>
          <a:xfrm>
            <a:off x="6278727" y="2520696"/>
            <a:ext cx="5364327" cy="947928"/>
          </a:xfrm>
          <a:prstGeom prst="rect">
            <a:avLst/>
          </a:prstGeom>
          <a:noFill/>
        </p:spPr>
        <p:txBody>
          <a:bodyPr wrap="square" lIns="0" tIns="0" rIns="0" bIns="0" anchor="t">
            <a:spAutoFit/>
          </a:bodyPr>
          <a:lstStyle/>
          <a:p>
            <a:r>
              <a:rPr sz="1500" b="0" i="0">
                <a:solidFill>
                  <a:srgbClr val="263040"/>
                </a:solidFill>
                <a:latin typeface="Calibri"/>
              </a:rPr>
              <a:t>The proposed database consists of ten relational tables. Each table represents a specific responsibility, reducing unnecessary data duplication and supporting referential integrity through primary keys and foreign keys.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3. ENTITIES, ATTRIBUTES AND KEYS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3.2 Entities and Their Attributes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12</a:t>
            </a:r>
          </a:p>
        </p:txBody>
      </p:sp>
      <p:graphicFrame>
        <p:nvGraphicFramePr>
          <p:cNvPr id="6" name="Table"/>
          <p:cNvGraphicFramePr>
            <a:graphicFrameLocks noGrp="1"/>
          </p:cNvGraphicFramePr>
          <p:nvPr/>
        </p:nvGraphicFramePr>
        <p:xfrm>
          <a:off x="548640" y="1481328"/>
          <a:ext cx="11094413" cy="4057650"/>
        </p:xfrm>
        <a:graphic>
          <a:graphicData uri="http://schemas.openxmlformats.org/drawingml/2006/table">
            <a:tbl>
              <a:tblPr>
                <a:tableStyleId>{5C22544A-7EE6-4342-B048-85BDC9FD1C3A}</a:tableStyleId>
              </a:tblPr>
              <a:tblGrid>
                <a:gridCol w="3153070">
                  <a:extLst>
                    <a:ext uri="{9D8B030D-6E8A-4147-A177-3AD203B41FA5}">
                      <a16:colId xmlns:a16="http://schemas.microsoft.com/office/drawing/2014/main" val="20000"/>
                    </a:ext>
                  </a:extLst>
                </a:gridCol>
                <a:gridCol w="2723276">
                  <a:extLst>
                    <a:ext uri="{9D8B030D-6E8A-4147-A177-3AD203B41FA5}">
                      <a16:colId xmlns:a16="http://schemas.microsoft.com/office/drawing/2014/main" val="20001"/>
                    </a:ext>
                  </a:extLst>
                </a:gridCol>
                <a:gridCol w="1969896">
                  <a:extLst>
                    <a:ext uri="{9D8B030D-6E8A-4147-A177-3AD203B41FA5}">
                      <a16:colId xmlns:a16="http://schemas.microsoft.com/office/drawing/2014/main" val="20002"/>
                    </a:ext>
                  </a:extLst>
                </a:gridCol>
                <a:gridCol w="3248171">
                  <a:extLst>
                    <a:ext uri="{9D8B030D-6E8A-4147-A177-3AD203B41FA5}">
                      <a16:colId xmlns:a16="http://schemas.microsoft.com/office/drawing/2014/main" val="20003"/>
                    </a:ext>
                  </a:extLst>
                </a:gridCol>
              </a:tblGrid>
              <a:tr h="275209">
                <a:tc>
                  <a:txBody>
                    <a:bodyPr/>
                    <a:lstStyle/>
                    <a:p>
                      <a:r>
                        <a:rPr sz="950" b="1" i="0">
                          <a:solidFill>
                            <a:srgbClr val="FFFFFF"/>
                          </a:solidFill>
                          <a:latin typeface="Calibri"/>
                        </a:rPr>
                        <a:t>Entity / Table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950" b="1" i="0">
                          <a:solidFill>
                            <a:srgbClr val="FFFFFF"/>
                          </a:solidFill>
                          <a:latin typeface="Calibri"/>
                        </a:rPr>
                        <a:t>Important attributes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950" b="1" i="0">
                          <a:solidFill>
                            <a:srgbClr val="FFFFFF"/>
                          </a:solidFill>
                          <a:latin typeface="Calibri"/>
                        </a:rPr>
                        <a:t>Primary key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950" b="1" i="0">
                          <a:solidFill>
                            <a:srgbClr val="FFFFFF"/>
                          </a:solidFill>
                          <a:latin typeface="Calibri"/>
                        </a:rPr>
                        <a:t>Main foreign key(s)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extLst>
                  <a:ext uri="{0D108BD9-81ED-4DB2-BD59-A6C34878D82A}">
                    <a16:rowId xmlns:a16="http://schemas.microsoft.com/office/drawing/2014/main" val="10000"/>
                  </a:ext>
                </a:extLst>
              </a:tr>
              <a:tr h="275209">
                <a:tc>
                  <a:txBody>
                    <a:bodyPr/>
                    <a:lstStyle/>
                    <a:p>
                      <a:r>
                        <a:rPr sz="950" b="1" i="0">
                          <a:solidFill>
                            <a:srgbClr val="14233F"/>
                          </a:solidFill>
                          <a:latin typeface="Calibri"/>
                        </a:rPr>
                        <a:t>USERS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Full name, email, phone number, KYC status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user_id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1"/>
                  </a:ext>
                </a:extLst>
              </a:tr>
              <a:tr h="422402">
                <a:tc>
                  <a:txBody>
                    <a:bodyPr/>
                    <a:lstStyle/>
                    <a:p>
                      <a:r>
                        <a:rPr sz="950" b="1" i="0">
                          <a:solidFill>
                            <a:srgbClr val="14233F"/>
                          </a:solidFill>
                          <a:latin typeface="Calibri"/>
                        </a:rPr>
                        <a:t>BANK_ACCOUNTS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Account number, bank name, balance, account status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account_id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user_id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2"/>
                  </a:ext>
                </a:extLst>
              </a:tr>
              <a:tr h="275209">
                <a:tc>
                  <a:txBody>
                    <a:bodyPr/>
                    <a:lstStyle/>
                    <a:p>
                      <a:r>
                        <a:rPr sz="950" b="1" i="0">
                          <a:solidFill>
                            <a:srgbClr val="14233F"/>
                          </a:solidFill>
                          <a:latin typeface="Calibri"/>
                        </a:rPr>
                        <a:t>PAYMENT_GATEWAYS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Gateway name, fee percentage, gateway status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gateway_id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3"/>
                  </a:ext>
                </a:extLst>
              </a:tr>
              <a:tr h="422402">
                <a:tc>
                  <a:txBody>
                    <a:bodyPr/>
                    <a:lstStyle/>
                    <a:p>
                      <a:r>
                        <a:rPr sz="950" b="1" i="0">
                          <a:solidFill>
                            <a:srgbClr val="14233F"/>
                          </a:solidFill>
                          <a:latin typeface="Calibri"/>
                        </a:rPr>
                        <a:t>PAYMENT_PROFILES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Daily limit, single transaction limit, authentication status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profile_id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user_id, preferred_gateway_id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4"/>
                  </a:ext>
                </a:extLst>
              </a:tr>
              <a:tr h="422402">
                <a:tc>
                  <a:txBody>
                    <a:bodyPr/>
                    <a:lstStyle/>
                    <a:p>
                      <a:r>
                        <a:rPr sz="950" b="1" i="0">
                          <a:solidFill>
                            <a:srgbClr val="14233F"/>
                          </a:solidFill>
                          <a:latin typeface="Calibri"/>
                        </a:rPr>
                        <a:t>PAYMENT_TRANSACTIONS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Transaction reference, amount, status, transaction date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transaction_id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sender_account_id, receiver_account_id, gateway_id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5"/>
                  </a:ext>
                </a:extLst>
              </a:tr>
              <a:tr h="275209">
                <a:tc>
                  <a:txBody>
                    <a:bodyPr/>
                    <a:lstStyle/>
                    <a:p>
                      <a:r>
                        <a:rPr sz="950" b="1" i="0">
                          <a:solidFill>
                            <a:srgbClr val="14233F"/>
                          </a:solidFill>
                          <a:latin typeface="Calibri"/>
                        </a:rPr>
                        <a:t>LEDGER_ENTRIES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Entry type, amount, entry timestamp</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entry_id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transaction_id, account_id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6"/>
                  </a:ext>
                </a:extLst>
              </a:tr>
              <a:tr h="422402">
                <a:tc>
                  <a:txBody>
                    <a:bodyPr/>
                    <a:lstStyle/>
                    <a:p>
                      <a:r>
                        <a:rPr sz="950" b="1" i="0">
                          <a:solidFill>
                            <a:srgbClr val="14233F"/>
                          </a:solidFill>
                          <a:latin typeface="Calibri"/>
                        </a:rPr>
                        <a:t>EXTERNAL_TRANSACTIONS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External reference, reported amount, reported status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ext_transaction_id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gateway_id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7"/>
                  </a:ext>
                </a:extLst>
              </a:tr>
              <a:tr h="422402">
                <a:tc>
                  <a:txBody>
                    <a:bodyPr/>
                    <a:lstStyle/>
                    <a:p>
                      <a:r>
                        <a:rPr sz="950" b="1" i="0">
                          <a:solidFill>
                            <a:srgbClr val="14233F"/>
                          </a:solidFill>
                          <a:latin typeface="Calibri"/>
                        </a:rPr>
                        <a:t>RECONCILIATION_BATCHES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Batch date, total records, matched records, exception count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batch_id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gateway_id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8"/>
                  </a:ext>
                </a:extLst>
              </a:tr>
              <a:tr h="422402">
                <a:tc>
                  <a:txBody>
                    <a:bodyPr/>
                    <a:lstStyle/>
                    <a:p>
                      <a:r>
                        <a:rPr sz="950" b="1" i="0">
                          <a:solidFill>
                            <a:srgbClr val="14233F"/>
                          </a:solidFill>
                          <a:latin typeface="Calibri"/>
                        </a:rPr>
                        <a:t>RECONCILIATION_EXCEPTIONS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Exception type, discrepancy amount, resolution status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exception_id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950" b="0" i="0">
                          <a:solidFill>
                            <a:srgbClr val="263040"/>
                          </a:solidFill>
                          <a:latin typeface="Calibri"/>
                        </a:rPr>
                        <a:t>batch_id, internal_transaction_id, ext_transaction_id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9"/>
                  </a:ext>
                </a:extLst>
              </a:tr>
              <a:tr h="422402">
                <a:tc>
                  <a:txBody>
                    <a:bodyPr/>
                    <a:lstStyle/>
                    <a:p>
                      <a:r>
                        <a:rPr sz="950" b="1" i="0">
                          <a:solidFill>
                            <a:srgbClr val="14233F"/>
                          </a:solidFill>
                          <a:latin typeface="Calibri"/>
                        </a:rPr>
                        <a:t>AUDIT_LOGS</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Table name, action type, performed by, action timestamp</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log_id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950" b="0" i="0">
                          <a:solidFill>
                            <a:srgbClr val="263040"/>
                          </a:solidFill>
                          <a:latin typeface="Calibri"/>
                        </a:rPr>
                        <a:t>account_id, transaction_id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10"/>
                  </a:ext>
                </a:extLst>
              </a:tr>
            </a:tbl>
          </a:graphicData>
        </a:graphic>
      </p:graphicFrame>
      <p:sp>
        <p:nvSpPr>
          <p:cNvPr id="7" name="TextBox 6"/>
          <p:cNvSpPr txBox="1"/>
          <p:nvPr/>
        </p:nvSpPr>
        <p:spPr>
          <a:xfrm>
            <a:off x="548640" y="5916739"/>
            <a:ext cx="11094415" cy="261874"/>
          </a:xfrm>
          <a:prstGeom prst="rect">
            <a:avLst/>
          </a:prstGeom>
          <a:noFill/>
        </p:spPr>
        <p:txBody>
          <a:bodyPr wrap="square" lIns="0" tIns="0" rIns="0" bIns="0" anchor="t">
            <a:spAutoFit/>
          </a:bodyPr>
          <a:lstStyle/>
          <a:p>
            <a:r>
              <a:rPr sz="1100" b="0" i="1">
                <a:solidFill>
                  <a:srgbClr val="6B7585"/>
                </a:solidFill>
                <a:latin typeface="Calibri"/>
              </a:rPr>
              <a:t>Source: Entities, Attributes and Keys and Relational Schema sections of your Word document.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3. ENTITIES, ATTRIBUTES AND KEYS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3.3 Important Keys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13</a:t>
            </a:r>
          </a:p>
        </p:txBody>
      </p:sp>
      <p:sp>
        <p:nvSpPr>
          <p:cNvPr id="6" name="Card"/>
          <p:cNvSpPr/>
          <p:nvPr/>
        </p:nvSpPr>
        <p:spPr>
          <a:xfrm>
            <a:off x="548640" y="1481328"/>
            <a:ext cx="5364327" cy="908075"/>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 y="1598371"/>
            <a:ext cx="5071719" cy="673989"/>
          </a:xfrm>
          <a:prstGeom prst="rect">
            <a:avLst/>
          </a:prstGeom>
          <a:noFill/>
        </p:spPr>
        <p:txBody>
          <a:bodyPr wrap="square" lIns="0" tIns="0" rIns="0" bIns="0" anchor="t">
            <a:spAutoFit/>
          </a:bodyPr>
          <a:lstStyle/>
          <a:p>
            <a:r>
              <a:rPr sz="1450" b="1" i="0">
                <a:solidFill>
                  <a:srgbClr val="0B7A75"/>
                </a:solidFill>
                <a:latin typeface="Calibri"/>
              </a:rPr>
              <a:t>Primary key (PK): </a:t>
            </a:r>
            <a:r>
              <a:rPr sz="1450" b="0" i="0">
                <a:solidFill>
                  <a:srgbClr val="263040"/>
                </a:solidFill>
                <a:latin typeface="Calibri"/>
              </a:rPr>
              <a:t>Uniquely identifies each record. For example, user_id identifies a user and transaction_id identifies a payment transaction.</a:t>
            </a:r>
          </a:p>
        </p:txBody>
      </p:sp>
      <p:sp>
        <p:nvSpPr>
          <p:cNvPr id="8" name="Card"/>
          <p:cNvSpPr/>
          <p:nvPr/>
        </p:nvSpPr>
        <p:spPr>
          <a:xfrm>
            <a:off x="548640" y="2499131"/>
            <a:ext cx="5364327" cy="683412"/>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2616174"/>
            <a:ext cx="5071719" cy="449326"/>
          </a:xfrm>
          <a:prstGeom prst="rect">
            <a:avLst/>
          </a:prstGeom>
          <a:noFill/>
        </p:spPr>
        <p:txBody>
          <a:bodyPr wrap="square" lIns="0" tIns="0" rIns="0" bIns="0" anchor="t">
            <a:spAutoFit/>
          </a:bodyPr>
          <a:lstStyle/>
          <a:p>
            <a:r>
              <a:rPr sz="1450" b="1" i="0">
                <a:solidFill>
                  <a:srgbClr val="0B7A75"/>
                </a:solidFill>
                <a:latin typeface="Calibri"/>
              </a:rPr>
              <a:t>Foreign key (FK): </a:t>
            </a:r>
            <a:r>
              <a:rPr sz="1450" b="0" i="0">
                <a:solidFill>
                  <a:srgbClr val="263040"/>
                </a:solidFill>
                <a:latin typeface="Calibri"/>
              </a:rPr>
              <a:t>Connects related tables. For example, user_id in BANK_ACCOUNTS links a bank account to its owner.</a:t>
            </a:r>
          </a:p>
        </p:txBody>
      </p:sp>
      <p:sp>
        <p:nvSpPr>
          <p:cNvPr id="10" name="Card"/>
          <p:cNvSpPr/>
          <p:nvPr/>
        </p:nvSpPr>
        <p:spPr>
          <a:xfrm>
            <a:off x="6278727" y="1481328"/>
            <a:ext cx="5364327" cy="908075"/>
          </a:xfrm>
          <a:prstGeom prst="roundRect">
            <a:avLst>
              <a:gd name="adj" fmla="val 6000"/>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5031" y="1598371"/>
            <a:ext cx="5071719" cy="673989"/>
          </a:xfrm>
          <a:prstGeom prst="rect">
            <a:avLst/>
          </a:prstGeom>
          <a:noFill/>
        </p:spPr>
        <p:txBody>
          <a:bodyPr wrap="square" lIns="0" tIns="0" rIns="0" bIns="0" anchor="t">
            <a:spAutoFit/>
          </a:bodyPr>
          <a:lstStyle/>
          <a:p>
            <a:r>
              <a:rPr sz="1450" b="1" i="0">
                <a:solidFill>
                  <a:srgbClr val="0B7A75"/>
                </a:solidFill>
                <a:latin typeface="Calibri"/>
              </a:rPr>
              <a:t>Unique key: </a:t>
            </a:r>
            <a:r>
              <a:rPr sz="1450" b="0" i="0">
                <a:solidFill>
                  <a:srgbClr val="263040"/>
                </a:solidFill>
                <a:latin typeface="Calibri"/>
              </a:rPr>
              <a:t>Prevents duplicate values in specified columns. For example, idempotency_key in PAYMENT_TRANSACTIONS helps prevent duplicate transaction requests.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3. ENTITIES, ATTRIBUTES AND KEYS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ER Diagram</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14</a:t>
            </a:r>
          </a:p>
        </p:txBody>
      </p:sp>
      <p:pic>
        <p:nvPicPr>
          <p:cNvPr id="6" name="Screenshot" descr="er_crop.png"/>
          <p:cNvPicPr>
            <a:picLocks noChangeAspect="1"/>
          </p:cNvPicPr>
          <p:nvPr/>
        </p:nvPicPr>
        <p:blipFill>
          <a:blip r:embed="rId2"/>
          <a:stretch>
            <a:fillRect/>
          </a:stretch>
        </p:blipFill>
        <p:spPr>
          <a:xfrm>
            <a:off x="1939906" y="1481328"/>
            <a:ext cx="8311882" cy="480974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1: USERS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15</a:t>
            </a:r>
          </a:p>
        </p:txBody>
      </p:sp>
      <p:sp>
        <p:nvSpPr>
          <p:cNvPr id="6" name="Code box"/>
          <p:cNvSpPr/>
          <p:nvPr/>
        </p:nvSpPr>
        <p:spPr>
          <a:xfrm>
            <a:off x="548640" y="1481328"/>
            <a:ext cx="5943600" cy="2422969"/>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2240089"/>
          </a:xfrm>
          <a:prstGeom prst="rect">
            <a:avLst/>
          </a:prstGeom>
          <a:noFill/>
        </p:spPr>
        <p:txBody>
          <a:bodyPr wrap="square" lIns="0" tIns="0" rIns="0" bIns="0" anchor="t">
            <a:spAutoFit/>
          </a:bodyPr>
          <a:lstStyle/>
          <a:p>
            <a:r>
              <a:rPr sz="1050" b="0" i="0">
                <a:solidFill>
                  <a:srgbClr val="1E293B"/>
                </a:solidFill>
                <a:latin typeface="Consolas"/>
              </a:rPr>
              <a:t>CREATE TABLE USERS (</a:t>
            </a:r>
          </a:p>
          <a:p>
            <a:r>
              <a:rPr sz="1050" b="0" i="0">
                <a:solidFill>
                  <a:srgbClr val="1E293B"/>
                </a:solidFill>
                <a:latin typeface="Consolas"/>
              </a:rPr>
              <a:t>  user_id NUMBER GENERATED BY DEFAULT AS IDENTITY,</a:t>
            </a:r>
          </a:p>
          <a:p>
            <a:r>
              <a:rPr sz="1050" b="0" i="0">
                <a:solidFill>
                  <a:srgbClr val="1E293B"/>
                </a:solidFill>
                <a:latin typeface="Consolas"/>
              </a:rPr>
              <a:t>  full_name VARCHAR2(100) NOT NULL,</a:t>
            </a:r>
          </a:p>
          <a:p>
            <a:r>
              <a:rPr sz="1050" b="0" i="0">
                <a:solidFill>
                  <a:srgbClr val="1E293B"/>
                </a:solidFill>
                <a:latin typeface="Consolas"/>
              </a:rPr>
              <a:t>  email VARCHAR2(100) NOT NULL,</a:t>
            </a:r>
          </a:p>
          <a:p>
            <a:r>
              <a:rPr sz="1050" b="0" i="0">
                <a:solidFill>
                  <a:srgbClr val="1E293B"/>
                </a:solidFill>
                <a:latin typeface="Consolas"/>
              </a:rPr>
              <a:t>  phone_number VARCHAR2(15) NOT NULL,</a:t>
            </a:r>
          </a:p>
          <a:p>
            <a:r>
              <a:rPr sz="1050" b="0" i="0">
                <a:solidFill>
                  <a:srgbClr val="1E293B"/>
                </a:solidFill>
                <a:latin typeface="Consolas"/>
              </a:rPr>
              <a:t>  kyc_status VARCHAR2(20) DEFAULT 'PENDING' NOT NULL,</a:t>
            </a:r>
          </a:p>
          <a:p>
            <a:r>
              <a:rPr sz="1050" b="0" i="0">
                <a:solidFill>
                  <a:srgbClr val="1E293B"/>
                </a:solidFill>
                <a:latin typeface="Consolas"/>
              </a:rPr>
              <a:t>  created_at TIMESTAMP DEFAULT SYSTIMESTAMP NOT NULL,</a:t>
            </a:r>
          </a:p>
          <a:p>
            <a:r>
              <a:rPr sz="1050" b="0" i="0">
                <a:solidFill>
                  <a:srgbClr val="1E293B"/>
                </a:solidFill>
                <a:latin typeface="Consolas"/>
              </a:rPr>
              <a:t>  CONSTRAINT pk_users PRIMARY KEY (user_id),</a:t>
            </a:r>
          </a:p>
          <a:p>
            <a:r>
              <a:rPr sz="1050" b="0" i="0">
                <a:solidFill>
                  <a:srgbClr val="1E293B"/>
                </a:solidFill>
                <a:latin typeface="Consolas"/>
              </a:rPr>
              <a:t>  CONSTRAINT uq_users_email UNIQUE (email),</a:t>
            </a:r>
          </a:p>
          <a:p>
            <a:r>
              <a:rPr sz="1050" b="0" i="0">
                <a:solidFill>
                  <a:srgbClr val="1E293B"/>
                </a:solidFill>
                <a:latin typeface="Consolas"/>
              </a:rPr>
              <a:t>  CONSTRAINT uq_users_phone UNIQUE (phone_number),</a:t>
            </a:r>
          </a:p>
          <a:p>
            <a:r>
              <a:rPr sz="1050" b="0" i="0">
                <a:solidFill>
                  <a:srgbClr val="1E293B"/>
                </a:solidFill>
                <a:latin typeface="Consolas"/>
              </a:rPr>
              <a:t>  CONSTRAINT chk_users_kyc</a:t>
            </a:r>
          </a:p>
          <a:p>
            <a:r>
              <a:rPr sz="1050" b="0" i="0">
                <a:solidFill>
                  <a:srgbClr val="1E293B"/>
                </a:solidFill>
                <a:latin typeface="Consolas"/>
              </a:rPr>
              <a:t>    CHECK (kyc_status IN ('PENDING','VERIFIED','REJECTED'))</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159871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2: PAYMENT_GATEWAYS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16</a:t>
            </a:r>
          </a:p>
        </p:txBody>
      </p:sp>
      <p:sp>
        <p:nvSpPr>
          <p:cNvPr id="6" name="Code box"/>
          <p:cNvSpPr/>
          <p:nvPr/>
        </p:nvSpPr>
        <p:spPr>
          <a:xfrm>
            <a:off x="548640" y="1481328"/>
            <a:ext cx="5943600" cy="2756344"/>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2573464"/>
          </a:xfrm>
          <a:prstGeom prst="rect">
            <a:avLst/>
          </a:prstGeom>
          <a:noFill/>
        </p:spPr>
        <p:txBody>
          <a:bodyPr wrap="square" lIns="0" tIns="0" rIns="0" bIns="0" anchor="t">
            <a:spAutoFit/>
          </a:bodyPr>
          <a:lstStyle/>
          <a:p>
            <a:r>
              <a:rPr sz="1050" b="0" i="0">
                <a:solidFill>
                  <a:srgbClr val="1E293B"/>
                </a:solidFill>
                <a:latin typeface="Consolas"/>
              </a:rPr>
              <a:t>CREATE TABLE PAYMENT_GATEWAYS (</a:t>
            </a:r>
          </a:p>
          <a:p>
            <a:r>
              <a:rPr sz="1050" b="0" i="0">
                <a:solidFill>
                  <a:srgbClr val="1E293B"/>
                </a:solidFill>
                <a:latin typeface="Consolas"/>
              </a:rPr>
              <a:t>  gateway_id NUMBER GENERATED BY DEFAULT AS IDENTITY,</a:t>
            </a:r>
          </a:p>
          <a:p>
            <a:r>
              <a:rPr sz="1050" b="0" i="0">
                <a:solidFill>
                  <a:srgbClr val="1E293B"/>
                </a:solidFill>
                <a:latin typeface="Consolas"/>
              </a:rPr>
              <a:t>  gateway_name VARCHAR2(50) NOT NULL,</a:t>
            </a:r>
          </a:p>
          <a:p>
            <a:r>
              <a:rPr sz="1050" b="0" i="0">
                <a:solidFill>
                  <a:srgbClr val="1E293B"/>
                </a:solidFill>
                <a:latin typeface="Consolas"/>
              </a:rPr>
              <a:t>  api_endpoint VARCHAR2(200) NOT NULL,</a:t>
            </a:r>
          </a:p>
          <a:p>
            <a:r>
              <a:rPr sz="1050" b="0" i="0">
                <a:solidFill>
                  <a:srgbClr val="1E293B"/>
                </a:solidFill>
                <a:latin typeface="Consolas"/>
              </a:rPr>
              <a:t>  settlement_currency VARCHAR2(3) DEFAULT 'INR' NOT NULL,</a:t>
            </a:r>
          </a:p>
          <a:p>
            <a:r>
              <a:rPr sz="1050" b="0" i="0">
                <a:solidFill>
                  <a:srgbClr val="1E293B"/>
                </a:solidFill>
                <a:latin typeface="Consolas"/>
              </a:rPr>
              <a:t>  fee_percentage NUMBER(5,2) DEFAULT 1.50 NOT NULL,</a:t>
            </a:r>
          </a:p>
          <a:p>
            <a:r>
              <a:rPr sz="1050" b="0" i="0">
                <a:solidFill>
                  <a:srgbClr val="1E293B"/>
                </a:solidFill>
                <a:latin typeface="Consolas"/>
              </a:rPr>
              <a:t>  gateway_status VARCHAR2(20) DEFAULT 'ACTIVE' NOT NULL,</a:t>
            </a:r>
          </a:p>
          <a:p>
            <a:r>
              <a:rPr sz="1050" b="0" i="0">
                <a:solidFill>
                  <a:srgbClr val="1E293B"/>
                </a:solidFill>
                <a:latin typeface="Consolas"/>
              </a:rPr>
              <a:t>  created_at TIMESTAMP DEFAULT SYSTIMESTAMP NOT NULL,</a:t>
            </a:r>
          </a:p>
          <a:p>
            <a:r>
              <a:rPr sz="1050" b="0" i="0">
                <a:solidFill>
                  <a:srgbClr val="1E293B"/>
                </a:solidFill>
                <a:latin typeface="Consolas"/>
              </a:rPr>
              <a:t>  CONSTRAINT pk_gateways PRIMARY KEY (gateway_id),</a:t>
            </a:r>
          </a:p>
          <a:p>
            <a:r>
              <a:rPr sz="1050" b="0" i="0">
                <a:solidFill>
                  <a:srgbClr val="1E293B"/>
                </a:solidFill>
                <a:latin typeface="Consolas"/>
              </a:rPr>
              <a:t>  CONSTRAINT uq_gateway_name UNIQUE (gateway_name),</a:t>
            </a:r>
          </a:p>
          <a:p>
            <a:r>
              <a:rPr sz="1050" b="0" i="0">
                <a:solidFill>
                  <a:srgbClr val="1E293B"/>
                </a:solidFill>
                <a:latin typeface="Consolas"/>
              </a:rPr>
              <a:t>  CONSTRAINT chk_gateway_fee</a:t>
            </a:r>
          </a:p>
          <a:p>
            <a:r>
              <a:rPr sz="1050" b="0" i="0">
                <a:solidFill>
                  <a:srgbClr val="1E293B"/>
                </a:solidFill>
                <a:latin typeface="Consolas"/>
              </a:rPr>
              <a:t>    CHECK (fee_percentage BETWEEN 0 AND 100),</a:t>
            </a:r>
          </a:p>
          <a:p>
            <a:r>
              <a:rPr sz="1050" b="0" i="0">
                <a:solidFill>
                  <a:srgbClr val="1E293B"/>
                </a:solidFill>
                <a:latin typeface="Consolas"/>
              </a:rPr>
              <a:t>    CONSTRAINT chk_gateway_status</a:t>
            </a:r>
          </a:p>
          <a:p>
            <a:r>
              <a:rPr sz="1050" b="0" i="0">
                <a:solidFill>
                  <a:srgbClr val="1E293B"/>
                </a:solidFill>
                <a:latin typeface="Consolas"/>
              </a:rPr>
              <a:t>    CHECK (gateway_status IN ('ACTIVE','MAINTENANCE','INACTIVE'))</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17716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3: BANK_ACCOUNTS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17</a:t>
            </a:r>
          </a:p>
        </p:txBody>
      </p:sp>
      <p:sp>
        <p:nvSpPr>
          <p:cNvPr id="6" name="Code box"/>
          <p:cNvSpPr/>
          <p:nvPr/>
        </p:nvSpPr>
        <p:spPr>
          <a:xfrm>
            <a:off x="548640" y="1481328"/>
            <a:ext cx="5943600" cy="4089844"/>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3906964"/>
          </a:xfrm>
          <a:prstGeom prst="rect">
            <a:avLst/>
          </a:prstGeom>
          <a:noFill/>
        </p:spPr>
        <p:txBody>
          <a:bodyPr wrap="square" lIns="0" tIns="0" rIns="0" bIns="0" anchor="t">
            <a:spAutoFit/>
          </a:bodyPr>
          <a:lstStyle/>
          <a:p>
            <a:r>
              <a:rPr sz="1050" b="0" i="0">
                <a:solidFill>
                  <a:srgbClr val="1E293B"/>
                </a:solidFill>
                <a:latin typeface="Consolas"/>
              </a:rPr>
              <a:t>CREATE TABLE BANK_ACCOUNTS (</a:t>
            </a:r>
          </a:p>
          <a:p>
            <a:r>
              <a:rPr sz="1050" b="0" i="0">
                <a:solidFill>
                  <a:srgbClr val="1E293B"/>
                </a:solidFill>
                <a:latin typeface="Consolas"/>
              </a:rPr>
              <a:t>  account_id NUMBER GENERATED BY DEFAULT AS IDENTITY,</a:t>
            </a:r>
          </a:p>
          <a:p>
            <a:r>
              <a:rPr sz="1050" b="0" i="0">
                <a:solidFill>
                  <a:srgbClr val="1E293B"/>
                </a:solidFill>
                <a:latin typeface="Consolas"/>
              </a:rPr>
              <a:t>  user_id NUMBER NOT NULL,</a:t>
            </a:r>
          </a:p>
          <a:p>
            <a:r>
              <a:rPr sz="1050" b="0" i="0">
                <a:solidFill>
                  <a:srgbClr val="1E293B"/>
                </a:solidFill>
                <a:latin typeface="Consolas"/>
              </a:rPr>
              <a:t>  account_number VARCHAR2(20) NOT NULL,</a:t>
            </a:r>
          </a:p>
          <a:p>
            <a:r>
              <a:rPr sz="1050" b="0" i="0">
                <a:solidFill>
                  <a:srgbClr val="1E293B"/>
                </a:solidFill>
                <a:latin typeface="Consolas"/>
              </a:rPr>
              <a:t>  bank_name VARCHAR2(100) NOT NULL,</a:t>
            </a:r>
          </a:p>
          <a:p>
            <a:r>
              <a:rPr sz="1050" b="0" i="0">
                <a:solidFill>
                  <a:srgbClr val="1E293B"/>
                </a:solidFill>
                <a:latin typeface="Consolas"/>
              </a:rPr>
              <a:t>  ifsc_code VARCHAR2(11) NOT NULL,</a:t>
            </a:r>
          </a:p>
          <a:p>
            <a:r>
              <a:rPr sz="1050" b="0" i="0">
                <a:solidFill>
                  <a:srgbClr val="1E293B"/>
                </a:solidFill>
                <a:latin typeface="Consolas"/>
              </a:rPr>
              <a:t>  account_type VARCHAR2(20) DEFAULT 'SAVINGS' NOT NULL,</a:t>
            </a:r>
          </a:p>
          <a:p>
            <a:r>
              <a:rPr sz="1050" b="0" i="0">
                <a:solidFill>
                  <a:srgbClr val="1E293B"/>
                </a:solidFill>
                <a:latin typeface="Consolas"/>
              </a:rPr>
              <a:t>  current_balance NUMBER(15,2) DEFAULT 0 NOT NULL,</a:t>
            </a:r>
          </a:p>
          <a:p>
            <a:r>
              <a:rPr sz="1050" b="0" i="0">
                <a:solidFill>
                  <a:srgbClr val="1E293B"/>
                </a:solidFill>
                <a:latin typeface="Consolas"/>
              </a:rPr>
              <a:t>  currency VARCHAR2(3) DEFAULT 'INR' NOT NULL,</a:t>
            </a:r>
          </a:p>
          <a:p>
            <a:r>
              <a:rPr sz="1050" b="0" i="0">
                <a:solidFill>
                  <a:srgbClr val="1E293B"/>
                </a:solidFill>
                <a:latin typeface="Consolas"/>
              </a:rPr>
              <a:t>  account_status VARCHAR2(20) DEFAULT 'ACTIVE' NOT NULL,</a:t>
            </a:r>
          </a:p>
          <a:p>
            <a:r>
              <a:rPr sz="1050" b="0" i="0">
                <a:solidFill>
                  <a:srgbClr val="1E293B"/>
                </a:solidFill>
                <a:latin typeface="Consolas"/>
              </a:rPr>
              <a:t>  created_at TIMESTAMP DEFAULT SYSTIMESTAMP NOT NULL,</a:t>
            </a:r>
          </a:p>
          <a:p>
            <a:r>
              <a:rPr sz="1050" b="0" i="0">
                <a:solidFill>
                  <a:srgbClr val="1E293B"/>
                </a:solidFill>
                <a:latin typeface="Consolas"/>
              </a:rPr>
              <a:t>  CONSTRAINT pk_bank_accounts PRIMARY KEY (account_id),</a:t>
            </a:r>
          </a:p>
          <a:p>
            <a:r>
              <a:rPr sz="1050" b="0" i="0">
                <a:solidFill>
                  <a:srgbClr val="1E293B"/>
                </a:solidFill>
                <a:latin typeface="Consolas"/>
              </a:rPr>
              <a:t>    CONSTRAINT fk_acc_user FOREIGN KEY (user_id) REFERENCES USERS(user_id),</a:t>
            </a:r>
          </a:p>
          <a:p>
            <a:r>
              <a:rPr sz="1050" b="0" i="0">
                <a:solidFill>
                  <a:srgbClr val="1E293B"/>
                </a:solidFill>
                <a:latin typeface="Consolas"/>
              </a:rPr>
              <a:t>  CONSTRAINT uq_account_number UNIQUE (account_number),</a:t>
            </a:r>
          </a:p>
          <a:p>
            <a:r>
              <a:rPr sz="1050" b="0" i="0">
                <a:solidFill>
                  <a:srgbClr val="1E293B"/>
                </a:solidFill>
                <a:latin typeface="Consolas"/>
              </a:rPr>
              <a:t>  CONSTRAINT chk_account_type</a:t>
            </a:r>
          </a:p>
          <a:p>
            <a:r>
              <a:rPr sz="1050" b="0" i="0">
                <a:solidFill>
                  <a:srgbClr val="1E293B"/>
                </a:solidFill>
                <a:latin typeface="Consolas"/>
              </a:rPr>
              <a:t>    CHECK (account_type IN ('SAVINGS','CURRENT')),</a:t>
            </a:r>
          </a:p>
          <a:p>
            <a:r>
              <a:rPr sz="1050" b="0" i="0">
                <a:solidFill>
                  <a:srgbClr val="1E293B"/>
                </a:solidFill>
                <a:latin typeface="Consolas"/>
              </a:rPr>
              <a:t>  CONSTRAINT chk_account_balance CHECK (current_balance &gt;= 0),</a:t>
            </a:r>
          </a:p>
          <a:p>
            <a:r>
              <a:rPr sz="1050" b="0" i="0">
                <a:solidFill>
                  <a:srgbClr val="1E293B"/>
                </a:solidFill>
                <a:latin typeface="Consolas"/>
              </a:rPr>
              <a:t>  CONSTRAINT chk_account_currency</a:t>
            </a:r>
          </a:p>
          <a:p>
            <a:r>
              <a:rPr sz="1050" b="0" i="0">
                <a:solidFill>
                  <a:srgbClr val="1E293B"/>
                </a:solidFill>
                <a:latin typeface="Consolas"/>
              </a:rPr>
              <a:t>    CHECK (currency IN ('INR','USD','EUR','GBP')),</a:t>
            </a:r>
          </a:p>
          <a:p>
            <a:r>
              <a:rPr sz="1050" b="0" i="0">
                <a:solidFill>
                  <a:srgbClr val="1E293B"/>
                </a:solidFill>
                <a:latin typeface="Consolas"/>
              </a:rPr>
              <a:t>  CONSTRAINT chk_account_status</a:t>
            </a:r>
          </a:p>
          <a:p>
            <a:r>
              <a:rPr sz="1050" b="0" i="0">
                <a:solidFill>
                  <a:srgbClr val="1E293B"/>
                </a:solidFill>
                <a:latin typeface="Consolas"/>
              </a:rPr>
              <a:t>    CHECK (account_status IN ('ACTIVE','FROZEN','CLOSED'))</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228660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4: PAYMENT_PROFILES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18</a:t>
            </a:r>
          </a:p>
        </p:txBody>
      </p:sp>
      <p:sp>
        <p:nvSpPr>
          <p:cNvPr id="6" name="Code box"/>
          <p:cNvSpPr/>
          <p:nvPr/>
        </p:nvSpPr>
        <p:spPr>
          <a:xfrm>
            <a:off x="548640" y="1481328"/>
            <a:ext cx="5943600" cy="3756469"/>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3573589"/>
          </a:xfrm>
          <a:prstGeom prst="rect">
            <a:avLst/>
          </a:prstGeom>
          <a:noFill/>
        </p:spPr>
        <p:txBody>
          <a:bodyPr wrap="square" lIns="0" tIns="0" rIns="0" bIns="0" anchor="t">
            <a:spAutoFit/>
          </a:bodyPr>
          <a:lstStyle/>
          <a:p>
            <a:r>
              <a:rPr sz="1050" b="0" i="0">
                <a:solidFill>
                  <a:srgbClr val="1E293B"/>
                </a:solidFill>
                <a:latin typeface="Consolas"/>
              </a:rPr>
              <a:t>CREATE TABLE PAYMENT_PROFILES (</a:t>
            </a:r>
          </a:p>
          <a:p>
            <a:r>
              <a:rPr sz="1050" b="0" i="0">
                <a:solidFill>
                  <a:srgbClr val="1E293B"/>
                </a:solidFill>
                <a:latin typeface="Consolas"/>
              </a:rPr>
              <a:t>  profile_id NUMBER GENERATED BY DEFAULT AS IDENTITY,</a:t>
            </a:r>
          </a:p>
          <a:p>
            <a:r>
              <a:rPr sz="1050" b="0" i="0">
                <a:solidFill>
                  <a:srgbClr val="1E293B"/>
                </a:solidFill>
                <a:latin typeface="Consolas"/>
              </a:rPr>
              <a:t>  user_id NUMBER NOT NULL,</a:t>
            </a:r>
          </a:p>
          <a:p>
            <a:r>
              <a:rPr sz="1050" b="0" i="0">
                <a:solidFill>
                  <a:srgbClr val="1E293B"/>
                </a:solidFill>
                <a:latin typeface="Consolas"/>
              </a:rPr>
              <a:t>  preferred_gateway_id NUMBER,</a:t>
            </a:r>
          </a:p>
          <a:p>
            <a:r>
              <a:rPr sz="1050" b="0" i="0">
                <a:solidFill>
                  <a:srgbClr val="1E293B"/>
                </a:solidFill>
                <a:latin typeface="Consolas"/>
              </a:rPr>
              <a:t>  daily_limit NUMBER(15,2) DEFAULT 50000 NOT NULL,</a:t>
            </a:r>
          </a:p>
          <a:p>
            <a:r>
              <a:rPr sz="1050" b="0" i="0">
                <a:solidFill>
                  <a:srgbClr val="1E293B"/>
                </a:solidFill>
                <a:latin typeface="Consolas"/>
              </a:rPr>
              <a:t>  single_tx_limit NUMBER(15,2) DEFAULT 10000 NOT NULL,</a:t>
            </a:r>
          </a:p>
          <a:p>
            <a:r>
              <a:rPr sz="1050" b="0" i="0">
                <a:solidFill>
                  <a:srgbClr val="1E293B"/>
                </a:solidFill>
                <a:latin typeface="Consolas"/>
              </a:rPr>
              <a:t>  two_factor_auth VARCHAR2(1) DEFAULT 'Y' NOT NULL,</a:t>
            </a:r>
          </a:p>
          <a:p>
            <a:r>
              <a:rPr sz="1050" b="0" i="0">
                <a:solidFill>
                  <a:srgbClr val="1E293B"/>
                </a:solidFill>
                <a:latin typeface="Consolas"/>
              </a:rPr>
              <a:t>  profile_status VARCHAR2(20) DEFAULT 'ACTIVE' NOT NULL,</a:t>
            </a:r>
          </a:p>
          <a:p>
            <a:r>
              <a:rPr sz="1050" b="0" i="0">
                <a:solidFill>
                  <a:srgbClr val="1E293B"/>
                </a:solidFill>
                <a:latin typeface="Consolas"/>
              </a:rPr>
              <a:t>  updated_at TIMESTAMP DEFAULT SYSTIMESTAMP NOT NULL,</a:t>
            </a:r>
          </a:p>
          <a:p>
            <a:r>
              <a:rPr sz="1050" b="0" i="0">
                <a:solidFill>
                  <a:srgbClr val="1E293B"/>
                </a:solidFill>
                <a:latin typeface="Consolas"/>
              </a:rPr>
              <a:t>  CONSTRAINT pk_profiles PRIMARY KEY (profile_id),</a:t>
            </a:r>
          </a:p>
          <a:p>
            <a:r>
              <a:rPr sz="1050" b="0" i="0">
                <a:solidFill>
                  <a:srgbClr val="1E293B"/>
                </a:solidFill>
                <a:latin typeface="Consolas"/>
              </a:rPr>
              <a:t>  CONSTRAINT fk_profile_user FOREIGN KEY (user_id)</a:t>
            </a:r>
          </a:p>
          <a:p>
            <a:r>
              <a:rPr sz="1050" b="0" i="0">
                <a:solidFill>
                  <a:srgbClr val="1E293B"/>
                </a:solidFill>
                <a:latin typeface="Consolas"/>
              </a:rPr>
              <a:t>    REFERENCES USERS(user_id),</a:t>
            </a:r>
          </a:p>
          <a:p>
            <a:r>
              <a:rPr sz="1050" b="0" i="0">
                <a:solidFill>
                  <a:srgbClr val="1E293B"/>
                </a:solidFill>
                <a:latin typeface="Consolas"/>
              </a:rPr>
              <a:t>  CONSTRAINT uq_profile_user UNIQUE (user_id),</a:t>
            </a:r>
          </a:p>
          <a:p>
            <a:r>
              <a:rPr sz="1050" b="0" i="0">
                <a:solidFill>
                  <a:srgbClr val="1E293B"/>
                </a:solidFill>
                <a:latin typeface="Consolas"/>
              </a:rPr>
              <a:t>  CONSTRAINT fk_profile_gateway FOREIGN KEY (preferred_gateway_id)</a:t>
            </a:r>
          </a:p>
          <a:p>
            <a:r>
              <a:rPr sz="1050" b="0" i="0">
                <a:solidFill>
                  <a:srgbClr val="1E293B"/>
                </a:solidFill>
                <a:latin typeface="Consolas"/>
              </a:rPr>
              <a:t>REFERENCES PAYMENT_GATEWAYS(gateway_id),</a:t>
            </a:r>
          </a:p>
          <a:p>
            <a:r>
              <a:rPr sz="1050" b="0" i="0">
                <a:solidFill>
                  <a:srgbClr val="1E293B"/>
                </a:solidFill>
                <a:latin typeface="Consolas"/>
              </a:rPr>
              <a:t>CONSTRAINT chk_daily_limit CHECK (daily_limit &gt;= 0),</a:t>
            </a:r>
          </a:p>
          <a:p>
            <a:r>
              <a:rPr sz="1050" b="0" i="0">
                <a:solidFill>
                  <a:srgbClr val="1E293B"/>
                </a:solidFill>
                <a:latin typeface="Consolas"/>
              </a:rPr>
              <a:t>  CONSTRAINT chk_single_limit CHECK (single_tx_limit &gt;= 0),</a:t>
            </a:r>
          </a:p>
          <a:p>
            <a:r>
              <a:rPr sz="1050" b="0" i="0">
                <a:solidFill>
                  <a:srgbClr val="1E293B"/>
                </a:solidFill>
                <a:latin typeface="Consolas"/>
              </a:rPr>
              <a:t>  CONSTRAINT chk_two_factor CHECK (two_factor_auth IN ('Y','N')),</a:t>
            </a:r>
          </a:p>
          <a:p>
            <a:r>
              <a:rPr sz="1050" b="0" i="0">
                <a:solidFill>
                  <a:srgbClr val="1E293B"/>
                </a:solidFill>
                <a:latin typeface="Consolas"/>
              </a:rPr>
              <a:t>  CONSTRAINT chk_profile_status</a:t>
            </a:r>
          </a:p>
          <a:p>
            <a:r>
              <a:rPr sz="1050" b="0" i="0">
                <a:solidFill>
                  <a:srgbClr val="1E293B"/>
                </a:solidFill>
                <a:latin typeface="Consolas"/>
              </a:rPr>
              <a:t>    CHECK (profile_status IN ('ACTIVE','SUSPENDED'))</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18544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5: PAYMENT_TRANSACTIONS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19</a:t>
            </a:r>
          </a:p>
        </p:txBody>
      </p:sp>
      <p:sp>
        <p:nvSpPr>
          <p:cNvPr id="6" name="Code box"/>
          <p:cNvSpPr/>
          <p:nvPr/>
        </p:nvSpPr>
        <p:spPr>
          <a:xfrm>
            <a:off x="548640" y="1481328"/>
            <a:ext cx="5943600" cy="454228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4359402"/>
          </a:xfrm>
          <a:prstGeom prst="rect">
            <a:avLst/>
          </a:prstGeom>
          <a:noFill/>
        </p:spPr>
        <p:txBody>
          <a:bodyPr wrap="square" lIns="0" tIns="0" rIns="0" bIns="0" anchor="t">
            <a:spAutoFit/>
          </a:bodyPr>
          <a:lstStyle/>
          <a:p>
            <a:r>
              <a:rPr sz="900" b="0" i="0">
                <a:solidFill>
                  <a:srgbClr val="1E293B"/>
                </a:solidFill>
                <a:latin typeface="Consolas"/>
              </a:rPr>
              <a:t>CREATE TABLE PAYMENT_TRANSACTIONS (</a:t>
            </a:r>
          </a:p>
          <a:p>
            <a:r>
              <a:rPr sz="900" b="0" i="0">
                <a:solidFill>
                  <a:srgbClr val="1E293B"/>
                </a:solidFill>
                <a:latin typeface="Consolas"/>
              </a:rPr>
              <a:t>  transaction_id NUMBER GENERATED BY DEFAULT AS IDENTITY,</a:t>
            </a:r>
          </a:p>
          <a:p>
            <a:r>
              <a:rPr sz="900" b="0" i="0">
                <a:solidFill>
                  <a:srgbClr val="1E293B"/>
                </a:solidFill>
                <a:latin typeface="Consolas"/>
              </a:rPr>
              <a:t>  transaction_ref VARCHAR2(36) NOT NULL,</a:t>
            </a:r>
          </a:p>
          <a:p>
            <a:r>
              <a:rPr sz="900" b="0" i="0">
                <a:solidFill>
                  <a:srgbClr val="1E293B"/>
                </a:solidFill>
                <a:latin typeface="Consolas"/>
              </a:rPr>
              <a:t>  idempotency_key VARCHAR2(100) NOT NULL,</a:t>
            </a:r>
          </a:p>
          <a:p>
            <a:r>
              <a:rPr sz="900" b="0" i="0">
                <a:solidFill>
                  <a:srgbClr val="1E293B"/>
                </a:solidFill>
                <a:latin typeface="Consolas"/>
              </a:rPr>
              <a:t>  sender_account_id NUMBER NOT NULL,</a:t>
            </a:r>
          </a:p>
          <a:p>
            <a:r>
              <a:rPr sz="900" b="0" i="0">
                <a:solidFill>
                  <a:srgbClr val="1E293B"/>
                </a:solidFill>
                <a:latin typeface="Consolas"/>
              </a:rPr>
              <a:t>  receiver_account_id NUMBER NOT NULL,</a:t>
            </a:r>
          </a:p>
          <a:p>
            <a:r>
              <a:rPr sz="900" b="0" i="0">
                <a:solidFill>
                  <a:srgbClr val="1E293B"/>
                </a:solidFill>
                <a:latin typeface="Consolas"/>
              </a:rPr>
              <a:t>  gateway_id NUMBER,</a:t>
            </a:r>
          </a:p>
          <a:p>
            <a:r>
              <a:rPr sz="900" b="0" i="0">
                <a:solidFill>
                  <a:srgbClr val="1E293B"/>
                </a:solidFill>
                <a:latin typeface="Consolas"/>
              </a:rPr>
              <a:t>  amount NUMBER(15,2) NOT NULL,</a:t>
            </a:r>
          </a:p>
          <a:p>
            <a:r>
              <a:rPr sz="900" b="0" i="0">
                <a:solidFill>
                  <a:srgbClr val="1E293B"/>
                </a:solidFill>
                <a:latin typeface="Consolas"/>
              </a:rPr>
              <a:t>  fee_amount NUMBER(15,2) DEFAULT 0 NOT NULL,</a:t>
            </a:r>
          </a:p>
          <a:p>
            <a:r>
              <a:rPr sz="900" b="0" i="0">
                <a:solidFill>
                  <a:srgbClr val="1E293B"/>
                </a:solidFill>
                <a:latin typeface="Consolas"/>
              </a:rPr>
              <a:t>  currency VARCHAR2(3) DEFAULT 'INR' NOT NULL,</a:t>
            </a:r>
          </a:p>
          <a:p>
            <a:r>
              <a:rPr sz="900" b="0" i="0">
                <a:solidFill>
                  <a:srgbClr val="1E293B"/>
                </a:solidFill>
                <a:latin typeface="Consolas"/>
              </a:rPr>
              <a:t>  status VARCHAR2(20) DEFAULT 'INITIATED' NOT NULL,</a:t>
            </a:r>
          </a:p>
          <a:p>
            <a:r>
              <a:rPr sz="900" b="0" i="0">
                <a:solidFill>
                  <a:srgbClr val="1E293B"/>
                </a:solidFill>
                <a:latin typeface="Consolas"/>
              </a:rPr>
              <a:t>  initiated_at TIMESTAMP DEFAULT SYSTIMESTAMP NOT NULL,</a:t>
            </a:r>
          </a:p>
          <a:p>
            <a:r>
              <a:rPr sz="900" b="0" i="0">
                <a:solidFill>
                  <a:srgbClr val="1E293B"/>
                </a:solidFill>
                <a:latin typeface="Consolas"/>
              </a:rPr>
              <a:t>  completed_at TIMESTAMP,</a:t>
            </a:r>
          </a:p>
          <a:p>
            <a:r>
              <a:rPr sz="900" b="0" i="0">
                <a:solidFill>
                  <a:srgbClr val="1E293B"/>
                </a:solidFill>
                <a:latin typeface="Consolas"/>
              </a:rPr>
              <a:t>  description VARCHAR2(255),</a:t>
            </a:r>
          </a:p>
          <a:p>
            <a:r>
              <a:rPr sz="900" b="0" i="0">
                <a:solidFill>
                  <a:srgbClr val="1E293B"/>
                </a:solidFill>
                <a:latin typeface="Consolas"/>
              </a:rPr>
              <a:t>  CONSTRAINT pk_transactions PRIMARY KEY (transaction_id),</a:t>
            </a:r>
          </a:p>
          <a:p>
            <a:r>
              <a:rPr sz="900" b="0" i="0">
                <a:solidFill>
                  <a:srgbClr val="1E293B"/>
                </a:solidFill>
                <a:latin typeface="Consolas"/>
              </a:rPr>
              <a:t>  CONSTRAINT uq_transaction_ref UNIQUE (transaction_ref),</a:t>
            </a:r>
          </a:p>
          <a:p>
            <a:r>
              <a:rPr sz="900" b="0" i="0">
                <a:solidFill>
                  <a:srgbClr val="1E293B"/>
                </a:solidFill>
                <a:latin typeface="Consolas"/>
              </a:rPr>
              <a:t>  CONSTRAINT uq_idempotency_key UNIQUE (idempotency_key),</a:t>
            </a:r>
          </a:p>
          <a:p>
            <a:r>
              <a:rPr sz="900" b="0" i="0">
                <a:solidFill>
                  <a:srgbClr val="1E293B"/>
                </a:solidFill>
                <a:latin typeface="Consolas"/>
              </a:rPr>
              <a:t>  CONSTRAINT fk_txn_sender FOREIGN KEY (sender_account_id)</a:t>
            </a:r>
          </a:p>
          <a:p>
            <a:r>
              <a:rPr sz="900" b="0" i="0">
                <a:solidFill>
                  <a:srgbClr val="1E293B"/>
                </a:solidFill>
                <a:latin typeface="Consolas"/>
              </a:rPr>
              <a:t>    REFERENCES BANK_ACCOUNTS(account_id),</a:t>
            </a:r>
          </a:p>
          <a:p>
            <a:r>
              <a:rPr sz="900" b="0" i="0">
                <a:solidFill>
                  <a:srgbClr val="1E293B"/>
                </a:solidFill>
                <a:latin typeface="Consolas"/>
              </a:rPr>
              <a:t>    CONSTRAINT fk_txn_receiver FOREIGN KEY (receiver_account_id) REFERENCES BANK_ACCOUNTS(account_id),</a:t>
            </a:r>
          </a:p>
          <a:p>
            <a:r>
              <a:rPr sz="900" b="0" i="0">
                <a:solidFill>
                  <a:srgbClr val="1E293B"/>
                </a:solidFill>
                <a:latin typeface="Consolas"/>
              </a:rPr>
              <a:t>  CONSTRAINT fk_txn_gateway FOREIGN KEY (gateway_id)</a:t>
            </a:r>
          </a:p>
          <a:p>
            <a:r>
              <a:rPr sz="900" b="0" i="0">
                <a:solidFill>
                  <a:srgbClr val="1E293B"/>
                </a:solidFill>
                <a:latin typeface="Consolas"/>
              </a:rPr>
              <a:t>    REFERENCES PAYMENT_GATEWAYS(gateway_id),</a:t>
            </a:r>
          </a:p>
          <a:p>
            <a:r>
              <a:rPr sz="900" b="0" i="0">
                <a:solidFill>
                  <a:srgbClr val="1E293B"/>
                </a:solidFill>
                <a:latin typeface="Consolas"/>
              </a:rPr>
              <a:t>  CONSTRAINT chk_txn_amount CHECK (amount &gt; 0),</a:t>
            </a:r>
          </a:p>
          <a:p>
            <a:r>
              <a:rPr sz="900" b="0" i="0">
                <a:solidFill>
                  <a:srgbClr val="1E293B"/>
                </a:solidFill>
                <a:latin typeface="Consolas"/>
              </a:rPr>
              <a:t>  CONSTRAINT chk_txn_fee CHECK (fee_amount &gt;= 0),</a:t>
            </a:r>
          </a:p>
          <a:p>
            <a:r>
              <a:rPr sz="900" b="0" i="0">
                <a:solidFill>
                  <a:srgbClr val="1E293B"/>
                </a:solidFill>
                <a:latin typeface="Consolas"/>
              </a:rPr>
              <a:t>  CONSTRAINT chk_txn_status</a:t>
            </a:r>
          </a:p>
          <a:p>
            <a:r>
              <a:rPr sz="900" b="0" i="0">
                <a:solidFill>
                  <a:srgbClr val="1E293B"/>
                </a:solidFill>
                <a:latin typeface="Consolas"/>
              </a:rPr>
              <a:t>    CHECK (status IN ('INITIATED','PROCESSING','SUCCESS','FAILED','REVERSED')),</a:t>
            </a:r>
          </a:p>
          <a:p>
            <a:r>
              <a:rPr sz="900" b="0" i="0">
                <a:solidFill>
                  <a:srgbClr val="1E293B"/>
                </a:solidFill>
                <a:latin typeface="Consolas"/>
              </a:rPr>
              <a:t>  CONSTRAINT chk_different_accounts</a:t>
            </a:r>
          </a:p>
          <a:p>
            <a:r>
              <a:rPr sz="900" b="0" i="0">
                <a:solidFill>
                  <a:srgbClr val="1E293B"/>
                </a:solidFill>
                <a:latin typeface="Consolas"/>
              </a:rPr>
              <a:t>    CHECK (sender_account_id &lt;&gt; receiver_account_id)</a:t>
            </a:r>
          </a:p>
          <a:p>
            <a:r>
              <a:rPr sz="90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234961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6: LEDGER_ENTRIES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20</a:t>
            </a:r>
          </a:p>
        </p:txBody>
      </p:sp>
      <p:sp>
        <p:nvSpPr>
          <p:cNvPr id="6" name="Code box"/>
          <p:cNvSpPr/>
          <p:nvPr/>
        </p:nvSpPr>
        <p:spPr>
          <a:xfrm>
            <a:off x="548640" y="1481328"/>
            <a:ext cx="5943600" cy="2923031"/>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2740151"/>
          </a:xfrm>
          <a:prstGeom prst="rect">
            <a:avLst/>
          </a:prstGeom>
          <a:noFill/>
        </p:spPr>
        <p:txBody>
          <a:bodyPr wrap="square" lIns="0" tIns="0" rIns="0" bIns="0" anchor="t">
            <a:spAutoFit/>
          </a:bodyPr>
          <a:lstStyle/>
          <a:p>
            <a:r>
              <a:rPr sz="1050" b="0" i="0">
                <a:solidFill>
                  <a:srgbClr val="1E293B"/>
                </a:solidFill>
                <a:latin typeface="Consolas"/>
              </a:rPr>
              <a:t>CREATE TABLE LEDGER_ENTRIES (</a:t>
            </a:r>
          </a:p>
          <a:p>
            <a:r>
              <a:rPr sz="1050" b="0" i="0">
                <a:solidFill>
                  <a:srgbClr val="1E293B"/>
                </a:solidFill>
                <a:latin typeface="Consolas"/>
              </a:rPr>
              <a:t>  entry_id NUMBER GENERATED BY DEFAULT AS IDENTITY,</a:t>
            </a:r>
          </a:p>
          <a:p>
            <a:r>
              <a:rPr sz="1050" b="0" i="0">
                <a:solidFill>
                  <a:srgbClr val="1E293B"/>
                </a:solidFill>
                <a:latin typeface="Consolas"/>
              </a:rPr>
              <a:t>  transaction_id NUMBER NOT NULL,</a:t>
            </a:r>
          </a:p>
          <a:p>
            <a:r>
              <a:rPr sz="1050" b="0" i="0">
                <a:solidFill>
                  <a:srgbClr val="1E293B"/>
                </a:solidFill>
                <a:latin typeface="Consolas"/>
              </a:rPr>
              <a:t>  account_id NUMBER NOT NULL,</a:t>
            </a:r>
          </a:p>
          <a:p>
            <a:r>
              <a:rPr sz="1050" b="0" i="0">
                <a:solidFill>
                  <a:srgbClr val="1E293B"/>
                </a:solidFill>
                <a:latin typeface="Consolas"/>
              </a:rPr>
              <a:t>  entry_type VARCHAR2(2) NOT NULL,</a:t>
            </a:r>
          </a:p>
          <a:p>
            <a:r>
              <a:rPr sz="1050" b="0" i="0">
                <a:solidFill>
                  <a:srgbClr val="1E293B"/>
                </a:solidFill>
                <a:latin typeface="Consolas"/>
              </a:rPr>
              <a:t>  amount NUMBER(15,2) NOT NULL,</a:t>
            </a:r>
          </a:p>
          <a:p>
            <a:r>
              <a:rPr sz="1050" b="0" i="0">
                <a:solidFill>
                  <a:srgbClr val="1E293B"/>
                </a:solidFill>
                <a:latin typeface="Consolas"/>
              </a:rPr>
              <a:t>  entry_timestamp TIMESTAMP DEFAULT SYSTIMESTAMP NOT NULL,</a:t>
            </a:r>
          </a:p>
          <a:p>
            <a:r>
              <a:rPr sz="1050" b="0" i="0">
                <a:solidFill>
                  <a:srgbClr val="1E293B"/>
                </a:solidFill>
                <a:latin typeface="Consolas"/>
              </a:rPr>
              <a:t>  description VARCHAR2(200),</a:t>
            </a:r>
          </a:p>
          <a:p>
            <a:r>
              <a:rPr sz="1050" b="0" i="0">
                <a:solidFill>
                  <a:srgbClr val="1E293B"/>
                </a:solidFill>
                <a:latin typeface="Consolas"/>
              </a:rPr>
              <a:t>  CONSTRAINT pk_ledger PRIMARY KEY (entry_id),</a:t>
            </a:r>
          </a:p>
          <a:p>
            <a:r>
              <a:rPr sz="1050" b="0" i="0">
                <a:solidFill>
                  <a:srgbClr val="1E293B"/>
                </a:solidFill>
                <a:latin typeface="Consolas"/>
              </a:rPr>
              <a:t>    CONSTRAINT fk_ledger_txn FOREIGN KEY (transaction_id) REFERENCES PAYMENT_TRANSACTIONS(transaction_id),</a:t>
            </a:r>
          </a:p>
          <a:p>
            <a:r>
              <a:rPr sz="1050" b="0" i="0">
                <a:solidFill>
                  <a:srgbClr val="1E293B"/>
                </a:solidFill>
                <a:latin typeface="Consolas"/>
              </a:rPr>
              <a:t>    CONSTRAINT fk_ledger_account FOREIGN KEY (account_id) REFERENCES BANK_ACCOUNTS(account_id),</a:t>
            </a:r>
          </a:p>
          <a:p>
            <a:r>
              <a:rPr sz="1050" b="0" i="0">
                <a:solidFill>
                  <a:srgbClr val="1E293B"/>
                </a:solidFill>
                <a:latin typeface="Consolas"/>
              </a:rPr>
              <a:t>  CONSTRAINT chk_entry_type CHECK (entry_type IN ('DR','CR')),</a:t>
            </a:r>
          </a:p>
          <a:p>
            <a:r>
              <a:rPr sz="1050" b="0" i="0">
                <a:solidFill>
                  <a:srgbClr val="1E293B"/>
                </a:solidFill>
                <a:latin typeface="Consolas"/>
              </a:rPr>
              <a:t>  CONSTRAINT chk_ledger_amount CHECK (amount &gt; 0)</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1824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7: EXTERNAL_TRANSACTIONS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21</a:t>
            </a:r>
          </a:p>
        </p:txBody>
      </p:sp>
      <p:sp>
        <p:nvSpPr>
          <p:cNvPr id="6" name="Code box"/>
          <p:cNvSpPr/>
          <p:nvPr/>
        </p:nvSpPr>
        <p:spPr>
          <a:xfrm>
            <a:off x="548640" y="1481328"/>
            <a:ext cx="5943600" cy="3756469"/>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3573589"/>
          </a:xfrm>
          <a:prstGeom prst="rect">
            <a:avLst/>
          </a:prstGeom>
          <a:noFill/>
        </p:spPr>
        <p:txBody>
          <a:bodyPr wrap="square" lIns="0" tIns="0" rIns="0" bIns="0" anchor="t">
            <a:spAutoFit/>
          </a:bodyPr>
          <a:lstStyle/>
          <a:p>
            <a:r>
              <a:rPr sz="1050" b="0" i="0">
                <a:solidFill>
                  <a:srgbClr val="1E293B"/>
                </a:solidFill>
                <a:latin typeface="Consolas"/>
              </a:rPr>
              <a:t>CREATE TABLE EXTERNAL_TRANSACTIONS (</a:t>
            </a:r>
          </a:p>
          <a:p>
            <a:r>
              <a:rPr sz="1050" b="0" i="0">
                <a:solidFill>
                  <a:srgbClr val="1E293B"/>
                </a:solidFill>
                <a:latin typeface="Consolas"/>
              </a:rPr>
              <a:t>  ext_transaction_id NUMBER GENERATED BY DEFAULT AS IDENTITY,</a:t>
            </a:r>
          </a:p>
          <a:p>
            <a:r>
              <a:rPr sz="1050" b="0" i="0">
                <a:solidFill>
                  <a:srgbClr val="1E293B"/>
                </a:solidFill>
                <a:latin typeface="Consolas"/>
              </a:rPr>
              <a:t>  gateway_id NUMBER NOT NULL,</a:t>
            </a:r>
          </a:p>
          <a:p>
            <a:r>
              <a:rPr sz="1050" b="0" i="0">
                <a:solidFill>
                  <a:srgbClr val="1E293B"/>
                </a:solidFill>
                <a:latin typeface="Consolas"/>
              </a:rPr>
              <a:t>  external_reference_id VARCHAR2(100) NOT NULL,</a:t>
            </a:r>
          </a:p>
          <a:p>
            <a:r>
              <a:rPr sz="1050" b="0" i="0">
                <a:solidFill>
                  <a:srgbClr val="1E293B"/>
                </a:solidFill>
                <a:latin typeface="Consolas"/>
              </a:rPr>
              <a:t>  internal_transaction_ref VARCHAR2(36),</a:t>
            </a:r>
          </a:p>
          <a:p>
            <a:r>
              <a:rPr sz="1050" b="0" i="0">
                <a:solidFill>
                  <a:srgbClr val="1E293B"/>
                </a:solidFill>
                <a:latin typeface="Consolas"/>
              </a:rPr>
              <a:t>  reported_amount NUMBER(15,2) NOT NULL,</a:t>
            </a:r>
          </a:p>
          <a:p>
            <a:r>
              <a:rPr sz="1050" b="0" i="0">
                <a:solidFill>
                  <a:srgbClr val="1E293B"/>
                </a:solidFill>
                <a:latin typeface="Consolas"/>
              </a:rPr>
              <a:t>  reported_fee NUMBER(15,2) DEFAULT 0 NOT NULL,</a:t>
            </a:r>
          </a:p>
          <a:p>
            <a:r>
              <a:rPr sz="1050" b="0" i="0">
                <a:solidFill>
                  <a:srgbClr val="1E293B"/>
                </a:solidFill>
                <a:latin typeface="Consolas"/>
              </a:rPr>
              <a:t>  reported_status VARCHAR2(20) NOT NULL,</a:t>
            </a:r>
          </a:p>
          <a:p>
            <a:r>
              <a:rPr sz="1050" b="0" i="0">
                <a:solidFill>
                  <a:srgbClr val="1E293B"/>
                </a:solidFill>
                <a:latin typeface="Consolas"/>
              </a:rPr>
              <a:t>  settlement_date DATE NOT NULL,</a:t>
            </a:r>
          </a:p>
          <a:p>
            <a:r>
              <a:rPr sz="1050" b="0" i="0">
                <a:solidFill>
                  <a:srgbClr val="1E293B"/>
                </a:solidFill>
                <a:latin typeface="Consolas"/>
              </a:rPr>
              <a:t>  created_at TIMESTAMP DEFAULT SYSTIMESTAMP NOT NULL,</a:t>
            </a:r>
          </a:p>
          <a:p>
            <a:r>
              <a:rPr sz="1050" b="0" i="0">
                <a:solidFill>
                  <a:srgbClr val="1E293B"/>
                </a:solidFill>
                <a:latin typeface="Consolas"/>
              </a:rPr>
              <a:t>  CONSTRAINT pk_external_txns PRIMARY KEY (ext_transaction_id),</a:t>
            </a:r>
          </a:p>
          <a:p>
            <a:r>
              <a:rPr sz="1050" b="0" i="0">
                <a:solidFill>
                  <a:srgbClr val="1E293B"/>
                </a:solidFill>
                <a:latin typeface="Consolas"/>
              </a:rPr>
              <a:t>  CONSTRAINT fk_external_gateway FOREIGN KEY (gateway_id)</a:t>
            </a:r>
          </a:p>
          <a:p>
            <a:r>
              <a:rPr sz="1050" b="0" i="0">
                <a:solidFill>
                  <a:srgbClr val="1E293B"/>
                </a:solidFill>
                <a:latin typeface="Consolas"/>
              </a:rPr>
              <a:t>    REFERENCES PAYMENT_GATEWAYS(gateway_id),</a:t>
            </a:r>
          </a:p>
          <a:p>
            <a:r>
              <a:rPr sz="1050" b="0" i="0">
                <a:solidFill>
                  <a:srgbClr val="1E293B"/>
                </a:solidFill>
                <a:latin typeface="Consolas"/>
              </a:rPr>
              <a:t>  CONSTRAINT uq_gateway_external_ref</a:t>
            </a:r>
          </a:p>
          <a:p>
            <a:r>
              <a:rPr sz="1050" b="0" i="0">
                <a:solidFill>
                  <a:srgbClr val="1E293B"/>
                </a:solidFill>
                <a:latin typeface="Consolas"/>
              </a:rPr>
              <a:t>    UNIQUE (gateway_id, external_reference_id),</a:t>
            </a:r>
          </a:p>
          <a:p>
            <a:r>
              <a:rPr sz="1050" b="0" i="0">
                <a:solidFill>
                  <a:srgbClr val="1E293B"/>
                </a:solidFill>
                <a:latin typeface="Consolas"/>
              </a:rPr>
              <a:t>  CONSTRAINT chk_reported_amount CHECK (reported_amount &gt; 0),</a:t>
            </a:r>
          </a:p>
          <a:p>
            <a:r>
              <a:rPr sz="1050" b="0" i="0">
                <a:solidFill>
                  <a:srgbClr val="1E293B"/>
                </a:solidFill>
                <a:latin typeface="Consolas"/>
              </a:rPr>
              <a:t>  CONSTRAINT chk_reported_fee CHECK (reported_fee &gt;= 0),</a:t>
            </a:r>
          </a:p>
          <a:p>
            <a:r>
              <a:rPr sz="1050" b="0" i="0">
                <a:solidFill>
                  <a:srgbClr val="1E293B"/>
                </a:solidFill>
                <a:latin typeface="Consolas"/>
              </a:rPr>
              <a:t>  CONSTRAINT chk_reported_status</a:t>
            </a:r>
          </a:p>
          <a:p>
            <a:r>
              <a:rPr sz="1050" b="0" i="0">
                <a:solidFill>
                  <a:srgbClr val="1E293B"/>
                </a:solidFill>
                <a:latin typeface="Consolas"/>
              </a:rPr>
              <a:t>    CHECK (reported_status IN ('SUCCESS','FAILURE','PENDING','REFUNDED'))</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201938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8: RECONCILIATION_BATCHES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22</a:t>
            </a:r>
          </a:p>
        </p:txBody>
      </p:sp>
      <p:sp>
        <p:nvSpPr>
          <p:cNvPr id="6" name="Code box"/>
          <p:cNvSpPr/>
          <p:nvPr/>
        </p:nvSpPr>
        <p:spPr>
          <a:xfrm>
            <a:off x="548640" y="1481328"/>
            <a:ext cx="5943600" cy="325640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3073527"/>
          </a:xfrm>
          <a:prstGeom prst="rect">
            <a:avLst/>
          </a:prstGeom>
          <a:noFill/>
        </p:spPr>
        <p:txBody>
          <a:bodyPr wrap="square" lIns="0" tIns="0" rIns="0" bIns="0" anchor="t">
            <a:spAutoFit/>
          </a:bodyPr>
          <a:lstStyle/>
          <a:p>
            <a:r>
              <a:rPr sz="1050" b="0" i="0">
                <a:solidFill>
                  <a:srgbClr val="1E293B"/>
                </a:solidFill>
                <a:latin typeface="Consolas"/>
              </a:rPr>
              <a:t>CREATE TABLE RECONCILIATION_BATCHES (</a:t>
            </a:r>
          </a:p>
          <a:p>
            <a:r>
              <a:rPr sz="1050" b="0" i="0">
                <a:solidFill>
                  <a:srgbClr val="1E293B"/>
                </a:solidFill>
                <a:latin typeface="Consolas"/>
              </a:rPr>
              <a:t>  batch_id NUMBER GENERATED BY DEFAULT AS IDENTITY,</a:t>
            </a:r>
          </a:p>
          <a:p>
            <a:r>
              <a:rPr sz="1050" b="0" i="0">
                <a:solidFill>
                  <a:srgbClr val="1E293B"/>
                </a:solidFill>
                <a:latin typeface="Consolas"/>
              </a:rPr>
              <a:t>  gateway_id NUMBER NOT NULL,</a:t>
            </a:r>
          </a:p>
          <a:p>
            <a:r>
              <a:rPr sz="1050" b="0" i="0">
                <a:solidFill>
                  <a:srgbClr val="1E293B"/>
                </a:solidFill>
                <a:latin typeface="Consolas"/>
              </a:rPr>
              <a:t>  batch_date DATE NOT NULL,</a:t>
            </a:r>
          </a:p>
          <a:p>
            <a:r>
              <a:rPr sz="1050" b="0" i="0">
                <a:solidFill>
                  <a:srgbClr val="1E293B"/>
                </a:solidFill>
                <a:latin typeface="Consolas"/>
              </a:rPr>
              <a:t>  total_records NUMBER(8) DEFAULT 0 NOT NULL,</a:t>
            </a:r>
          </a:p>
          <a:p>
            <a:r>
              <a:rPr sz="1050" b="0" i="0">
                <a:solidFill>
                  <a:srgbClr val="1E293B"/>
                </a:solidFill>
                <a:latin typeface="Consolas"/>
              </a:rPr>
              <a:t>  matched_records NUMBER(8) DEFAULT 0 NOT NULL,</a:t>
            </a:r>
          </a:p>
          <a:p>
            <a:r>
              <a:rPr sz="1050" b="0" i="0">
                <a:solidFill>
                  <a:srgbClr val="1E293B"/>
                </a:solidFill>
                <a:latin typeface="Consolas"/>
              </a:rPr>
              <a:t>  exception_records NUMBER(8) DEFAULT 0 NOT NULL,</a:t>
            </a:r>
          </a:p>
          <a:p>
            <a:r>
              <a:rPr sz="1050" b="0" i="0">
                <a:solidFill>
                  <a:srgbClr val="1E293B"/>
                </a:solidFill>
                <a:latin typeface="Consolas"/>
              </a:rPr>
              <a:t>  batch_status VARCHAR2(20) DEFAULT 'OPEN' NOT NULL,</a:t>
            </a:r>
          </a:p>
          <a:p>
            <a:r>
              <a:rPr sz="1050" b="0" i="0">
                <a:solidFill>
                  <a:srgbClr val="1E293B"/>
                </a:solidFill>
                <a:latin typeface="Consolas"/>
              </a:rPr>
              <a:t>  execution_timestamp TIMESTAMP DEFAULT SYSTIMESTAMP NOT NULL,</a:t>
            </a:r>
          </a:p>
          <a:p>
            <a:r>
              <a:rPr sz="1050" b="0" i="0">
                <a:solidFill>
                  <a:srgbClr val="1E293B"/>
                </a:solidFill>
                <a:latin typeface="Consolas"/>
              </a:rPr>
              <a:t>  CONSTRAINT pk_recon_batches PRIMARY KEY (batch_id),</a:t>
            </a:r>
          </a:p>
          <a:p>
            <a:r>
              <a:rPr sz="1050" b="0" i="0">
                <a:solidFill>
                  <a:srgbClr val="1E293B"/>
                </a:solidFill>
                <a:latin typeface="Consolas"/>
              </a:rPr>
              <a:t>    CONSTRAINT fk_batch_gateway FOREIGN KEY (gateway_id) REFERENCES PAYMENT_GATEWAYS(gateway_id),</a:t>
            </a:r>
          </a:p>
          <a:p>
            <a:r>
              <a:rPr sz="1050" b="0" i="0">
                <a:solidFill>
                  <a:srgbClr val="1E293B"/>
                </a:solidFill>
                <a:latin typeface="Consolas"/>
              </a:rPr>
              <a:t>  CONSTRAINT chk_batch_total CHECK (total_records &gt;= 0),</a:t>
            </a:r>
          </a:p>
          <a:p>
            <a:r>
              <a:rPr sz="1050" b="0" i="0">
                <a:solidFill>
                  <a:srgbClr val="1E293B"/>
                </a:solidFill>
                <a:latin typeface="Consolas"/>
              </a:rPr>
              <a:t>  CONSTRAINT chk_batch_matched CHECK (matched_records &gt;= 0),</a:t>
            </a:r>
          </a:p>
          <a:p>
            <a:r>
              <a:rPr sz="1050" b="0" i="0">
                <a:solidFill>
                  <a:srgbClr val="1E293B"/>
                </a:solidFill>
                <a:latin typeface="Consolas"/>
              </a:rPr>
              <a:t>  CONSTRAINT chk_batch_exceptions CHECK (exception_records &gt;= 0),</a:t>
            </a:r>
          </a:p>
          <a:p>
            <a:r>
              <a:rPr sz="1050" b="0" i="0">
                <a:solidFill>
                  <a:srgbClr val="1E293B"/>
                </a:solidFill>
                <a:latin typeface="Consolas"/>
              </a:rPr>
              <a:t>  CONSTRAINT chk_batch_status</a:t>
            </a:r>
          </a:p>
          <a:p>
            <a:r>
              <a:rPr sz="1050" b="0" i="0">
                <a:solidFill>
                  <a:srgbClr val="1E293B"/>
                </a:solidFill>
                <a:latin typeface="Consolas"/>
              </a:rPr>
              <a:t>    CHECK (batch_status IN ('OPEN','PROCESSING','COMPLETED','FAILED'))</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18677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9: RECONCILIATION_EXCEPTIONS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23</a:t>
            </a:r>
          </a:p>
        </p:txBody>
      </p:sp>
      <p:sp>
        <p:nvSpPr>
          <p:cNvPr id="6" name="Code box"/>
          <p:cNvSpPr/>
          <p:nvPr/>
        </p:nvSpPr>
        <p:spPr>
          <a:xfrm>
            <a:off x="548640" y="1481328"/>
            <a:ext cx="5943600" cy="425653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4073652"/>
          </a:xfrm>
          <a:prstGeom prst="rect">
            <a:avLst/>
          </a:prstGeom>
          <a:noFill/>
        </p:spPr>
        <p:txBody>
          <a:bodyPr wrap="square" lIns="0" tIns="0" rIns="0" bIns="0" anchor="t">
            <a:spAutoFit/>
          </a:bodyPr>
          <a:lstStyle/>
          <a:p>
            <a:r>
              <a:rPr sz="1050" b="0" i="0">
                <a:solidFill>
                  <a:srgbClr val="1E293B"/>
                </a:solidFill>
                <a:latin typeface="Consolas"/>
              </a:rPr>
              <a:t>CREATE TABLE RECONCILIATION_EXCEPTIONS (</a:t>
            </a:r>
          </a:p>
          <a:p>
            <a:r>
              <a:rPr sz="1050" b="0" i="0">
                <a:solidFill>
                  <a:srgbClr val="1E293B"/>
                </a:solidFill>
                <a:latin typeface="Consolas"/>
              </a:rPr>
              <a:t>  exception_id NUMBER GENERATED BY DEFAULT AS IDENTITY,</a:t>
            </a:r>
          </a:p>
          <a:p>
            <a:r>
              <a:rPr sz="1050" b="0" i="0">
                <a:solidFill>
                  <a:srgbClr val="1E293B"/>
                </a:solidFill>
                <a:latin typeface="Consolas"/>
              </a:rPr>
              <a:t>  batch_id NUMBER NOT NULL,</a:t>
            </a:r>
          </a:p>
          <a:p>
            <a:r>
              <a:rPr sz="1050" b="0" i="0">
                <a:solidFill>
                  <a:srgbClr val="1E293B"/>
                </a:solidFill>
                <a:latin typeface="Consolas"/>
              </a:rPr>
              <a:t>  internal_transaction_id NUMBER,</a:t>
            </a:r>
          </a:p>
          <a:p>
            <a:r>
              <a:rPr sz="1050" b="0" i="0">
                <a:solidFill>
                  <a:srgbClr val="1E293B"/>
                </a:solidFill>
                <a:latin typeface="Consolas"/>
              </a:rPr>
              <a:t>  ext_transaction_id NUMBER,</a:t>
            </a:r>
          </a:p>
          <a:p>
            <a:r>
              <a:rPr sz="1050" b="0" i="0">
                <a:solidFill>
                  <a:srgbClr val="1E293B"/>
                </a:solidFill>
                <a:latin typeface="Consolas"/>
              </a:rPr>
              <a:t>  exception_type VARCHAR2(30) NOT NULL,</a:t>
            </a:r>
          </a:p>
          <a:p>
            <a:r>
              <a:rPr sz="1050" b="0" i="0">
                <a:solidFill>
                  <a:srgbClr val="1E293B"/>
                </a:solidFill>
                <a:latin typeface="Consolas"/>
              </a:rPr>
              <a:t>  discrepancy_amount NUMBER(15,2) DEFAULT 0 NOT NULL,</a:t>
            </a:r>
          </a:p>
          <a:p>
            <a:r>
              <a:rPr sz="1050" b="0" i="0">
                <a:solidFill>
                  <a:srgbClr val="1E293B"/>
                </a:solidFill>
                <a:latin typeface="Consolas"/>
              </a:rPr>
              <a:t>  resolution_status VARCHAR2(20) DEFAULT 'UNRESOLVED' NOT NULL,</a:t>
            </a:r>
          </a:p>
          <a:p>
            <a:r>
              <a:rPr sz="1050" b="0" i="0">
                <a:solidFill>
                  <a:srgbClr val="1E293B"/>
                </a:solidFill>
                <a:latin typeface="Consolas"/>
              </a:rPr>
              <a:t>  resolution_notes VARCHAR2(500),</a:t>
            </a:r>
          </a:p>
          <a:p>
            <a:r>
              <a:rPr sz="1050" b="0" i="0">
                <a:solidFill>
                  <a:srgbClr val="1E293B"/>
                </a:solidFill>
                <a:latin typeface="Consolas"/>
              </a:rPr>
              <a:t>  created_at TIMESTAMP DEFAULT SYSTIMESTAMP NOT NULL,</a:t>
            </a:r>
          </a:p>
          <a:p>
            <a:r>
              <a:rPr sz="1050" b="0" i="0">
                <a:solidFill>
                  <a:srgbClr val="1E293B"/>
                </a:solidFill>
                <a:latin typeface="Consolas"/>
              </a:rPr>
              <a:t>  CONSTRAINT pk_recon_exceptions PRIMARY KEY (exception_id),</a:t>
            </a:r>
          </a:p>
          <a:p>
            <a:r>
              <a:rPr sz="1050" b="0" i="0">
                <a:solidFill>
                  <a:srgbClr val="1E293B"/>
                </a:solidFill>
                <a:latin typeface="Consolas"/>
              </a:rPr>
              <a:t>  CONSTRAINT fk_exception_batch FOREIGN KEY (batch_id)</a:t>
            </a:r>
          </a:p>
          <a:p>
            <a:r>
              <a:rPr sz="1050" b="0" i="0">
                <a:solidFill>
                  <a:srgbClr val="1E293B"/>
                </a:solidFill>
                <a:latin typeface="Consolas"/>
              </a:rPr>
              <a:t>    REFERENCES RECONCILIATION_BATCHES(batch_id),</a:t>
            </a:r>
          </a:p>
          <a:p>
            <a:r>
              <a:rPr sz="1050" b="0" i="0">
                <a:solidFill>
                  <a:srgbClr val="1E293B"/>
                </a:solidFill>
                <a:latin typeface="Consolas"/>
              </a:rPr>
              <a:t>  CONSTRAINT fk_exception_internal FOREIGN KEY (internal_transaction_id)</a:t>
            </a:r>
          </a:p>
          <a:p>
            <a:r>
              <a:rPr sz="1050" b="0" i="0">
                <a:solidFill>
                  <a:srgbClr val="1E293B"/>
                </a:solidFill>
                <a:latin typeface="Consolas"/>
              </a:rPr>
              <a:t>    REFERENCES PAYMENT_TRANSACTIONS(transaction_id),</a:t>
            </a:r>
          </a:p>
          <a:p>
            <a:r>
              <a:rPr sz="1050" b="0" i="0">
                <a:solidFill>
                  <a:srgbClr val="1E293B"/>
                </a:solidFill>
                <a:latin typeface="Consolas"/>
              </a:rPr>
              <a:t>    CONSTRAINT fk_exception_external FOREIGN KEY (ext_transaction_id) REFERENCES EXTERNAL_TRANSACTIONS(ext_transaction_id),</a:t>
            </a:r>
          </a:p>
          <a:p>
            <a:r>
              <a:rPr sz="1050" b="0" i="0">
                <a:solidFill>
                  <a:srgbClr val="1E293B"/>
                </a:solidFill>
                <a:latin typeface="Consolas"/>
              </a:rPr>
              <a:t>    CONSTRAINT chk_exception_type CHECK (exception_type IN</a:t>
            </a:r>
          </a:p>
          <a:p>
            <a:r>
              <a:rPr sz="1050" b="0" i="0">
                <a:solidFill>
                  <a:srgbClr val="1E293B"/>
                </a:solidFill>
                <a:latin typeface="Consolas"/>
              </a:rPr>
              <a:t>    ('AMOUNT_MISMATCH','STATUS_MISMATCH',</a:t>
            </a:r>
          </a:p>
          <a:p>
            <a:r>
              <a:rPr sz="1050" b="0" i="0">
                <a:solidFill>
                  <a:srgbClr val="1E293B"/>
                </a:solidFill>
                <a:latin typeface="Consolas"/>
              </a:rPr>
              <a:t>    'MISSING_IN_GATEWAY','MISSING_IN_INTERNAL')),</a:t>
            </a:r>
          </a:p>
          <a:p>
            <a:r>
              <a:rPr sz="1050" b="0" i="0">
                <a:solidFill>
                  <a:srgbClr val="1E293B"/>
                </a:solidFill>
                <a:latin typeface="Consolas"/>
              </a:rPr>
              <a:t>    CONSTRAINT chk_resolution_status CHECK (resolution_status IN</a:t>
            </a:r>
          </a:p>
          <a:p>
            <a:r>
              <a:rPr sz="1050" b="0" i="0">
                <a:solidFill>
                  <a:srgbClr val="1E293B"/>
                </a:solidFill>
                <a:latin typeface="Consolas"/>
              </a:rPr>
              <a:t>    ('UNRESOLVED','MANUALLY_RESOLVED','AUTO_RESOLVED','WRITTEN_OFF'))</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221123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TABLE 10: AUDIT_LOGS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24</a:t>
            </a:r>
          </a:p>
        </p:txBody>
      </p:sp>
      <p:sp>
        <p:nvSpPr>
          <p:cNvPr id="6" name="Code box"/>
          <p:cNvSpPr/>
          <p:nvPr/>
        </p:nvSpPr>
        <p:spPr>
          <a:xfrm>
            <a:off x="548640" y="1481328"/>
            <a:ext cx="5943600" cy="325640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5669280" cy="3073527"/>
          </a:xfrm>
          <a:prstGeom prst="rect">
            <a:avLst/>
          </a:prstGeom>
          <a:noFill/>
        </p:spPr>
        <p:txBody>
          <a:bodyPr wrap="square" lIns="0" tIns="0" rIns="0" bIns="0" anchor="t">
            <a:spAutoFit/>
          </a:bodyPr>
          <a:lstStyle/>
          <a:p>
            <a:r>
              <a:rPr sz="1050" b="0" i="0">
                <a:solidFill>
                  <a:srgbClr val="1E293B"/>
                </a:solidFill>
                <a:latin typeface="Consolas"/>
              </a:rPr>
              <a:t>CREATE TABLE AUDIT_LOGS (</a:t>
            </a:r>
          </a:p>
          <a:p>
            <a:r>
              <a:rPr sz="1050" b="0" i="0">
                <a:solidFill>
                  <a:srgbClr val="1E293B"/>
                </a:solidFill>
                <a:latin typeface="Consolas"/>
              </a:rPr>
              <a:t>  log_id NUMBER GENERATED BY DEFAULT AS IDENTITY,</a:t>
            </a:r>
          </a:p>
          <a:p>
            <a:r>
              <a:rPr sz="1050" b="0" i="0">
                <a:solidFill>
                  <a:srgbClr val="1E293B"/>
                </a:solidFill>
                <a:latin typeface="Consolas"/>
              </a:rPr>
              <a:t>  table_name VARCHAR2(50) NOT NULL,</a:t>
            </a:r>
          </a:p>
          <a:p>
            <a:r>
              <a:rPr sz="1050" b="0" i="0">
                <a:solidFill>
                  <a:srgbClr val="1E293B"/>
                </a:solidFill>
                <a:latin typeface="Consolas"/>
              </a:rPr>
              <a:t>  action_type VARCHAR2(10) NOT NULL,</a:t>
            </a:r>
          </a:p>
          <a:p>
            <a:r>
              <a:rPr sz="1050" b="0" i="0">
                <a:solidFill>
                  <a:srgbClr val="1E293B"/>
                </a:solidFill>
                <a:latin typeface="Consolas"/>
              </a:rPr>
              <a:t>  record_id NUMBER NOT NULL,</a:t>
            </a:r>
          </a:p>
          <a:p>
            <a:r>
              <a:rPr sz="1050" b="0" i="0">
                <a:solidFill>
                  <a:srgbClr val="1E293B"/>
                </a:solidFill>
                <a:latin typeface="Consolas"/>
              </a:rPr>
              <a:t>  account_id NUMBER,</a:t>
            </a:r>
          </a:p>
          <a:p>
            <a:r>
              <a:rPr sz="1050" b="0" i="0">
                <a:solidFill>
                  <a:srgbClr val="1E293B"/>
                </a:solidFill>
                <a:latin typeface="Consolas"/>
              </a:rPr>
              <a:t>  transaction_id NUMBER,</a:t>
            </a:r>
          </a:p>
          <a:p>
            <a:r>
              <a:rPr sz="1050" b="0" i="0">
                <a:solidFill>
                  <a:srgbClr val="1E293B"/>
                </a:solidFill>
                <a:latin typeface="Consolas"/>
              </a:rPr>
              <a:t>  performed_by VARCHAR2(50) DEFAULT USER NOT NULL,</a:t>
            </a:r>
          </a:p>
          <a:p>
            <a:r>
              <a:rPr sz="1050" b="0" i="0">
                <a:solidFill>
                  <a:srgbClr val="1E293B"/>
                </a:solidFill>
                <a:latin typeface="Consolas"/>
              </a:rPr>
              <a:t>  action_timestamp TIMESTAMP DEFAULT SYSTIMESTAMP NOT NULL,</a:t>
            </a:r>
          </a:p>
          <a:p>
            <a:r>
              <a:rPr sz="1050" b="0" i="0">
                <a:solidFill>
                  <a:srgbClr val="1E293B"/>
                </a:solidFill>
                <a:latin typeface="Consolas"/>
              </a:rPr>
              <a:t>  details VARCHAR2(4000),</a:t>
            </a:r>
          </a:p>
          <a:p>
            <a:r>
              <a:rPr sz="1050" b="0" i="0">
                <a:solidFill>
                  <a:srgbClr val="1E293B"/>
                </a:solidFill>
                <a:latin typeface="Consolas"/>
              </a:rPr>
              <a:t>  CONSTRAINT pk_audit_logs PRIMARY KEY (log_id),</a:t>
            </a:r>
          </a:p>
          <a:p>
            <a:r>
              <a:rPr sz="1050" b="0" i="0">
                <a:solidFill>
                  <a:srgbClr val="1E293B"/>
                </a:solidFill>
                <a:latin typeface="Consolas"/>
              </a:rPr>
              <a:t>  CONSTRAINT chk_audit_action</a:t>
            </a:r>
          </a:p>
          <a:p>
            <a:r>
              <a:rPr sz="1050" b="0" i="0">
                <a:solidFill>
                  <a:srgbClr val="1E293B"/>
                </a:solidFill>
                <a:latin typeface="Consolas"/>
              </a:rPr>
              <a:t>    CHECK (action_type IN ('INSERT','UPDATE','DELETE','SECURITY')),</a:t>
            </a:r>
          </a:p>
          <a:p>
            <a:r>
              <a:rPr sz="1050" b="0" i="0">
                <a:solidFill>
                  <a:srgbClr val="1E293B"/>
                </a:solidFill>
                <a:latin typeface="Consolas"/>
              </a:rPr>
              <a:t>    CONSTRAINT fk_audit_account FOREIGN KEY (account_id) REFERENCES BANK_ACCOUNTS(account_id),</a:t>
            </a:r>
          </a:p>
          <a:p>
            <a:r>
              <a:rPr sz="1050" b="0" i="0">
                <a:solidFill>
                  <a:srgbClr val="1E293B"/>
                </a:solidFill>
                <a:latin typeface="Consolas"/>
              </a:rPr>
              <a:t>    CONSTRAINT fk_audit_transaction FOREIGN KEY (transaction_id) REFERENCES PAYMENT_TRANSACTIONS(transaction_id)</a:t>
            </a:r>
          </a:p>
          <a:p>
            <a:r>
              <a:rPr sz="1050" b="0" i="0">
                <a:solidFill>
                  <a:srgbClr val="1E293B"/>
                </a:solidFill>
                <a:latin typeface="Consolas"/>
              </a:rPr>
              <a:t>);</a:t>
            </a:r>
          </a:p>
        </p:txBody>
      </p:sp>
      <p:pic>
        <p:nvPicPr>
          <p:cNvPr id="8" name="Screenshot" descr="image.png"/>
          <p:cNvPicPr>
            <a:picLocks noChangeAspect="1"/>
          </p:cNvPicPr>
          <p:nvPr/>
        </p:nvPicPr>
        <p:blipFill>
          <a:blip r:embed="rId2"/>
          <a:stretch>
            <a:fillRect/>
          </a:stretch>
        </p:blipFill>
        <p:spPr>
          <a:xfrm>
            <a:off x="6858000" y="1481328"/>
            <a:ext cx="4785055" cy="233510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400" b="1" i="0">
                <a:solidFill>
                  <a:srgbClr val="14233F"/>
                </a:solidFill>
                <a:latin typeface="Cambria"/>
              </a:rPr>
              <a:t>Altering tables: gateway security field and branch code</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25</a:t>
            </a:r>
          </a:p>
        </p:txBody>
      </p:sp>
      <p:sp>
        <p:nvSpPr>
          <p:cNvPr id="6" name="TextBox 5"/>
          <p:cNvSpPr txBox="1"/>
          <p:nvPr/>
        </p:nvSpPr>
        <p:spPr>
          <a:xfrm>
            <a:off x="548640" y="1481328"/>
            <a:ext cx="5257800" cy="250698"/>
          </a:xfrm>
          <a:prstGeom prst="rect">
            <a:avLst/>
          </a:prstGeom>
          <a:noFill/>
        </p:spPr>
        <p:txBody>
          <a:bodyPr wrap="square" lIns="0" tIns="0" rIns="0" bIns="0" anchor="t">
            <a:spAutoFit/>
          </a:bodyPr>
          <a:lstStyle/>
          <a:p>
            <a:r>
              <a:rPr sz="1500" b="0" i="0">
                <a:solidFill>
                  <a:srgbClr val="263040"/>
                </a:solidFill>
                <a:latin typeface="Calibri"/>
              </a:rPr>
              <a:t>Adding a gateway security field and a branch code.</a:t>
            </a:r>
          </a:p>
        </p:txBody>
      </p:sp>
      <p:sp>
        <p:nvSpPr>
          <p:cNvPr id="7" name="Code box"/>
          <p:cNvSpPr/>
          <p:nvPr/>
        </p:nvSpPr>
        <p:spPr>
          <a:xfrm>
            <a:off x="548640" y="1823466"/>
            <a:ext cx="5257800" cy="66878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42337"/>
            <a:ext cx="4983480" cy="485902"/>
          </a:xfrm>
          <a:prstGeom prst="rect">
            <a:avLst/>
          </a:prstGeom>
          <a:noFill/>
        </p:spPr>
        <p:txBody>
          <a:bodyPr wrap="square" lIns="0" tIns="0" rIns="0" bIns="0" anchor="t">
            <a:spAutoFit/>
          </a:bodyPr>
          <a:lstStyle/>
          <a:p>
            <a:r>
              <a:rPr sz="1300" b="0" i="0">
                <a:solidFill>
                  <a:srgbClr val="1E293B"/>
                </a:solidFill>
                <a:latin typeface="Consolas"/>
              </a:rPr>
              <a:t>ALTER TABLE PAYMENT_GATEWAYS</a:t>
            </a:r>
          </a:p>
          <a:p>
            <a:r>
              <a:rPr sz="1300" b="0" i="0">
                <a:solidFill>
                  <a:srgbClr val="1E293B"/>
                </a:solidFill>
                <a:latin typeface="Consolas"/>
              </a:rPr>
              <a:t>ADD webhook_secret VARCHAR2(128);</a:t>
            </a:r>
          </a:p>
        </p:txBody>
      </p:sp>
      <p:sp>
        <p:nvSpPr>
          <p:cNvPr id="9" name="Code box"/>
          <p:cNvSpPr/>
          <p:nvPr/>
        </p:nvSpPr>
        <p:spPr>
          <a:xfrm>
            <a:off x="548640" y="2601976"/>
            <a:ext cx="5257800" cy="66878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720847"/>
            <a:ext cx="4983480" cy="485902"/>
          </a:xfrm>
          <a:prstGeom prst="rect">
            <a:avLst/>
          </a:prstGeom>
          <a:noFill/>
        </p:spPr>
        <p:txBody>
          <a:bodyPr wrap="square" lIns="0" tIns="0" rIns="0" bIns="0" anchor="t">
            <a:spAutoFit/>
          </a:bodyPr>
          <a:lstStyle/>
          <a:p>
            <a:r>
              <a:rPr sz="1300" b="0" i="0">
                <a:solidFill>
                  <a:srgbClr val="1E293B"/>
                </a:solidFill>
                <a:latin typeface="Consolas"/>
              </a:rPr>
              <a:t>ALTER TABLE BANK_ACCOUNTS</a:t>
            </a:r>
          </a:p>
          <a:p>
            <a:r>
              <a:rPr sz="1300" b="0" i="0">
                <a:solidFill>
                  <a:srgbClr val="1E293B"/>
                </a:solidFill>
                <a:latin typeface="Consolas"/>
              </a:rPr>
              <a:t>ADD branch_code VARCHAR2(10);</a:t>
            </a:r>
          </a:p>
        </p:txBody>
      </p:sp>
      <p:sp>
        <p:nvSpPr>
          <p:cNvPr id="11" name="Code box"/>
          <p:cNvSpPr/>
          <p:nvPr/>
        </p:nvSpPr>
        <p:spPr>
          <a:xfrm>
            <a:off x="548640" y="3380485"/>
            <a:ext cx="5257800" cy="87515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3499357"/>
            <a:ext cx="4983480" cy="692277"/>
          </a:xfrm>
          <a:prstGeom prst="rect">
            <a:avLst/>
          </a:prstGeom>
          <a:noFill/>
        </p:spPr>
        <p:txBody>
          <a:bodyPr wrap="square" lIns="0" tIns="0" rIns="0" bIns="0" anchor="t">
            <a:spAutoFit/>
          </a:bodyPr>
          <a:lstStyle/>
          <a:p>
            <a:r>
              <a:rPr sz="1300" b="0" i="0">
                <a:solidFill>
                  <a:srgbClr val="1E293B"/>
                </a:solidFill>
                <a:latin typeface="Consolas"/>
              </a:rPr>
              <a:t>SELECT table_name, column_name, data_type</a:t>
            </a:r>
          </a:p>
          <a:p>
            <a:r>
              <a:rPr sz="1300" b="0" i="0">
                <a:solidFill>
                  <a:srgbClr val="1E293B"/>
                </a:solidFill>
                <a:latin typeface="Consolas"/>
              </a:rPr>
              <a:t>FROM user_tab_columns</a:t>
            </a:r>
          </a:p>
          <a:p>
            <a:r>
              <a:rPr sz="1300" b="0" i="0">
                <a:solidFill>
                  <a:srgbClr val="1E293B"/>
                </a:solidFill>
                <a:latin typeface="Consolas"/>
              </a:rPr>
              <a:t>WHERE table_name = 'USERS' ORDER BY column_id;</a:t>
            </a:r>
          </a:p>
        </p:txBody>
      </p:sp>
      <p:pic>
        <p:nvPicPr>
          <p:cNvPr id="13" name="Screenshot" descr="image.jpg"/>
          <p:cNvPicPr>
            <a:picLocks noChangeAspect="1"/>
          </p:cNvPicPr>
          <p:nvPr/>
        </p:nvPicPr>
        <p:blipFill>
          <a:blip r:embed="rId2"/>
          <a:stretch>
            <a:fillRect/>
          </a:stretch>
        </p:blipFill>
        <p:spPr>
          <a:xfrm>
            <a:off x="6172200" y="1481328"/>
            <a:ext cx="5470855" cy="1263409"/>
          </a:xfrm>
          <a:prstGeom prst="rect">
            <a:avLst/>
          </a:prstGeom>
        </p:spPr>
      </p:pic>
      <p:pic>
        <p:nvPicPr>
          <p:cNvPr id="14" name="Screenshot" descr="image.png"/>
          <p:cNvPicPr>
            <a:picLocks noChangeAspect="1"/>
          </p:cNvPicPr>
          <p:nvPr/>
        </p:nvPicPr>
        <p:blipFill>
          <a:blip r:embed="rId3"/>
          <a:stretch>
            <a:fillRect/>
          </a:stretch>
        </p:blipFill>
        <p:spPr>
          <a:xfrm>
            <a:off x="6172200" y="2973337"/>
            <a:ext cx="5470855" cy="141487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100" b="1" i="0">
                <a:solidFill>
                  <a:srgbClr val="14233F"/>
                </a:solidFill>
                <a:latin typeface="Cambria"/>
              </a:rPr>
              <a:t>Altering tables: gateway security field and branch code (cont.)</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26</a:t>
            </a:r>
          </a:p>
        </p:txBody>
      </p:sp>
      <p:pic>
        <p:nvPicPr>
          <p:cNvPr id="6" name="Screenshot" descr="image.png"/>
          <p:cNvPicPr>
            <a:picLocks noChangeAspect="1"/>
          </p:cNvPicPr>
          <p:nvPr/>
        </p:nvPicPr>
        <p:blipFill>
          <a:blip r:embed="rId2"/>
          <a:stretch>
            <a:fillRect/>
          </a:stretch>
        </p:blipFill>
        <p:spPr>
          <a:xfrm>
            <a:off x="6172200" y="1481328"/>
            <a:ext cx="5470855" cy="264853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4. DATABASE IMPLEMENTATION — DDL</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DROP TABLE — Removing a temporary table</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27</a:t>
            </a:r>
          </a:p>
        </p:txBody>
      </p:sp>
      <p:sp>
        <p:nvSpPr>
          <p:cNvPr id="6" name="TextBox 5"/>
          <p:cNvSpPr txBox="1"/>
          <p:nvPr/>
        </p:nvSpPr>
        <p:spPr>
          <a:xfrm>
            <a:off x="548640" y="1481328"/>
            <a:ext cx="5364327" cy="483108"/>
          </a:xfrm>
          <a:prstGeom prst="rect">
            <a:avLst/>
          </a:prstGeom>
          <a:noFill/>
        </p:spPr>
        <p:txBody>
          <a:bodyPr wrap="square" lIns="0" tIns="0" rIns="0" bIns="0" anchor="t">
            <a:spAutoFit/>
          </a:bodyPr>
          <a:lstStyle/>
          <a:p>
            <a:r>
              <a:rPr sz="1500" b="0" i="0">
                <a:solidFill>
                  <a:srgbClr val="263040"/>
                </a:solidFill>
                <a:latin typeface="Calibri"/>
              </a:rPr>
              <a:t>Objective: To demonstrate the DROP DDL command without deleting any of the project’s main tables.</a:t>
            </a:r>
          </a:p>
        </p:txBody>
      </p:sp>
      <p:sp>
        <p:nvSpPr>
          <p:cNvPr id="7" name="Code box"/>
          <p:cNvSpPr/>
          <p:nvPr/>
        </p:nvSpPr>
        <p:spPr>
          <a:xfrm>
            <a:off x="548640" y="2055876"/>
            <a:ext cx="5364327" cy="54178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74748"/>
            <a:ext cx="5090007" cy="358902"/>
          </a:xfrm>
          <a:prstGeom prst="rect">
            <a:avLst/>
          </a:prstGeom>
          <a:noFill/>
        </p:spPr>
        <p:txBody>
          <a:bodyPr wrap="square" lIns="0" tIns="0" rIns="0" bIns="0" anchor="t">
            <a:spAutoFit/>
          </a:bodyPr>
          <a:lstStyle/>
          <a:p>
            <a:r>
              <a:rPr sz="900" b="0" i="0">
                <a:solidFill>
                  <a:srgbClr val="1E293B"/>
                </a:solidFill>
                <a:latin typeface="Consolas"/>
              </a:rPr>
              <a:t>CREATE TABLE DROP_DEMO_TEMP (demo_id NUMBER PRIMARY KEY, demo_note VARCHAR2(50)); DROP TABLE DROP_DEMO_TEMP;</a:t>
            </a:r>
          </a:p>
        </p:txBody>
      </p:sp>
      <p:sp>
        <p:nvSpPr>
          <p:cNvPr id="9" name="TextBox 8"/>
          <p:cNvSpPr txBox="1"/>
          <p:nvPr/>
        </p:nvSpPr>
        <p:spPr>
          <a:xfrm>
            <a:off x="6278727" y="1481328"/>
            <a:ext cx="5364327" cy="483108"/>
          </a:xfrm>
          <a:prstGeom prst="rect">
            <a:avLst/>
          </a:prstGeom>
          <a:noFill/>
        </p:spPr>
        <p:txBody>
          <a:bodyPr wrap="square" lIns="0" tIns="0" rIns="0" bIns="0" anchor="t">
            <a:spAutoFit/>
          </a:bodyPr>
          <a:lstStyle/>
          <a:p>
            <a:r>
              <a:rPr sz="1500" b="0" i="0">
                <a:solidFill>
                  <a:srgbClr val="263040"/>
                </a:solidFill>
                <a:latin typeface="Calibri"/>
              </a:rPr>
              <a:t>Expected result: Table DROP_DEMO_TEMP created, followed by Table DROP_DEMO_TEMP dropped.</a:t>
            </a:r>
          </a:p>
        </p:txBody>
      </p:sp>
      <p:sp>
        <p:nvSpPr>
          <p:cNvPr id="10" name="TextBox 9"/>
          <p:cNvSpPr txBox="1"/>
          <p:nvPr/>
        </p:nvSpPr>
        <p:spPr>
          <a:xfrm>
            <a:off x="6278727" y="2055876"/>
            <a:ext cx="5364327" cy="483108"/>
          </a:xfrm>
          <a:prstGeom prst="rect">
            <a:avLst/>
          </a:prstGeom>
          <a:noFill/>
        </p:spPr>
        <p:txBody>
          <a:bodyPr wrap="square" lIns="0" tIns="0" rIns="0" bIns="0" anchor="t">
            <a:spAutoFit/>
          </a:bodyPr>
          <a:lstStyle/>
          <a:p>
            <a:r>
              <a:rPr sz="1500" b="0" i="0">
                <a:solidFill>
                  <a:srgbClr val="263040"/>
                </a:solidFill>
                <a:latin typeface="Calibri"/>
              </a:rPr>
              <a:t>Note: Run this example only in the practice schema. It creates and removes a separate temporary demonstration table.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5. DML OPERATIONS (INSERT, UPDATE, DELETE)</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1. INSERT — Adding records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28</a:t>
            </a:r>
          </a:p>
        </p:txBody>
      </p:sp>
      <p:sp>
        <p:nvSpPr>
          <p:cNvPr id="6" name="TextBox 5"/>
          <p:cNvSpPr txBox="1"/>
          <p:nvPr/>
        </p:nvSpPr>
        <p:spPr>
          <a:xfrm>
            <a:off x="548640" y="1481328"/>
            <a:ext cx="5257800" cy="250698"/>
          </a:xfrm>
          <a:prstGeom prst="rect">
            <a:avLst/>
          </a:prstGeom>
          <a:noFill/>
        </p:spPr>
        <p:txBody>
          <a:bodyPr wrap="square" lIns="0" tIns="0" rIns="0" bIns="0" anchor="t">
            <a:spAutoFit/>
          </a:bodyPr>
          <a:lstStyle/>
          <a:p>
            <a:r>
              <a:rPr sz="1500" b="0" i="0">
                <a:solidFill>
                  <a:srgbClr val="263040"/>
                </a:solidFill>
                <a:latin typeface="Calibri"/>
              </a:rPr>
              <a:t>Objective: To insert sample user records into the USERS table.</a:t>
            </a:r>
          </a:p>
        </p:txBody>
      </p:sp>
      <p:sp>
        <p:nvSpPr>
          <p:cNvPr id="7" name="Code box"/>
          <p:cNvSpPr/>
          <p:nvPr/>
        </p:nvSpPr>
        <p:spPr>
          <a:xfrm>
            <a:off x="548640" y="1823466"/>
            <a:ext cx="5257800" cy="355803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42337"/>
            <a:ext cx="4983480" cy="3375151"/>
          </a:xfrm>
          <a:prstGeom prst="rect">
            <a:avLst/>
          </a:prstGeom>
          <a:noFill/>
        </p:spPr>
        <p:txBody>
          <a:bodyPr wrap="square" lIns="0" tIns="0" rIns="0" bIns="0" anchor="t">
            <a:spAutoFit/>
          </a:bodyPr>
          <a:lstStyle/>
          <a:p>
            <a:r>
              <a:rPr sz="1300" b="0" i="0">
                <a:solidFill>
                  <a:srgbClr val="1E293B"/>
                </a:solidFill>
                <a:latin typeface="Consolas"/>
              </a:rPr>
              <a:t>INSERT INTO USERS</a:t>
            </a:r>
          </a:p>
          <a:p>
            <a:r>
              <a:rPr sz="1300" b="0" i="0">
                <a:solidFill>
                  <a:srgbClr val="1E293B"/>
                </a:solidFill>
                <a:latin typeface="Consolas"/>
              </a:rPr>
              <a:t>  (full_name, email, phone_number, kyc_status) VALUES</a:t>
            </a:r>
          </a:p>
          <a:p>
            <a:r>
              <a:rPr sz="1300" b="0" i="0">
                <a:solidFill>
                  <a:srgbClr val="1E293B"/>
                </a:solidFill>
                <a:latin typeface="Consolas"/>
              </a:rPr>
              <a:t>  ('Aditya Sharma', 'aditya.sharma@example.com', '+919876543210', 'VERIFIED');</a:t>
            </a:r>
          </a:p>
          <a:p>
            <a:r>
              <a:rPr sz="1300" b="0" i="0">
                <a:solidFill>
                  <a:srgbClr val="1E293B"/>
                </a:solidFill>
                <a:latin typeface="Consolas"/>
              </a:rPr>
              <a:t>INSERT INTO USERS</a:t>
            </a:r>
          </a:p>
          <a:p>
            <a:r>
              <a:rPr sz="1300" b="0" i="0">
                <a:solidFill>
                  <a:srgbClr val="1E293B"/>
                </a:solidFill>
                <a:latin typeface="Consolas"/>
              </a:rPr>
              <a:t>  (full_name, email, phone_number, kyc_status) VALUES</a:t>
            </a:r>
          </a:p>
          <a:p>
            <a:r>
              <a:rPr sz="1300" b="0" i="0">
                <a:solidFill>
                  <a:srgbClr val="1E293B"/>
                </a:solidFill>
                <a:latin typeface="Consolas"/>
              </a:rPr>
              <a:t>  ('Priya Patel', 'priya.patel@example.com', '+919876543211', 'VERIFIED');</a:t>
            </a:r>
          </a:p>
          <a:p>
            <a:r>
              <a:rPr sz="1300" b="0" i="0">
                <a:solidFill>
                  <a:srgbClr val="1E293B"/>
                </a:solidFill>
                <a:latin typeface="Consolas"/>
              </a:rPr>
              <a:t>INSERT INTO USERS</a:t>
            </a:r>
          </a:p>
          <a:p>
            <a:r>
              <a:rPr sz="1300" b="0" i="0">
                <a:solidFill>
                  <a:srgbClr val="1E293B"/>
                </a:solidFill>
                <a:latin typeface="Consolas"/>
              </a:rPr>
              <a:t>  (full_name, email, phone_number, kyc_status) VALUES</a:t>
            </a:r>
          </a:p>
          <a:p>
            <a:r>
              <a:rPr sz="1300" b="0" i="0">
                <a:solidFill>
                  <a:srgbClr val="1E293B"/>
                </a:solidFill>
                <a:latin typeface="Consolas"/>
              </a:rPr>
              <a:t>  ('Rohan Verma', 'rohan.verma@example.com', '+919876543212', 'PENDING');</a:t>
            </a:r>
          </a:p>
          <a:p>
            <a:r>
              <a:rPr sz="1300" b="0" i="0">
                <a:solidFill>
                  <a:srgbClr val="1E293B"/>
                </a:solidFill>
                <a:latin typeface="Consolas"/>
              </a:rPr>
              <a:t>COMMIT;</a:t>
            </a:r>
          </a:p>
        </p:txBody>
      </p:sp>
      <p:pic>
        <p:nvPicPr>
          <p:cNvPr id="9" name="Screenshot" descr="image.jpg"/>
          <p:cNvPicPr>
            <a:picLocks noChangeAspect="1"/>
          </p:cNvPicPr>
          <p:nvPr/>
        </p:nvPicPr>
        <p:blipFill>
          <a:blip r:embed="rId2"/>
          <a:stretch>
            <a:fillRect/>
          </a:stretch>
        </p:blipFill>
        <p:spPr>
          <a:xfrm>
            <a:off x="6172200" y="1481328"/>
            <a:ext cx="5470855" cy="120558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5. DML OPERATIONS (INSERT, UPDATE, DELETE)</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3. UPDATE — Modifying existing records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29</a:t>
            </a:r>
          </a:p>
        </p:txBody>
      </p:sp>
      <p:sp>
        <p:nvSpPr>
          <p:cNvPr id="6" name="TextBox 5"/>
          <p:cNvSpPr txBox="1"/>
          <p:nvPr/>
        </p:nvSpPr>
        <p:spPr>
          <a:xfrm>
            <a:off x="548640" y="1481328"/>
            <a:ext cx="5257800" cy="250698"/>
          </a:xfrm>
          <a:prstGeom prst="rect">
            <a:avLst/>
          </a:prstGeom>
          <a:noFill/>
        </p:spPr>
        <p:txBody>
          <a:bodyPr wrap="square" lIns="0" tIns="0" rIns="0" bIns="0" anchor="t">
            <a:spAutoFit/>
          </a:bodyPr>
          <a:lstStyle/>
          <a:p>
            <a:r>
              <a:rPr sz="1500" b="0" i="0">
                <a:solidFill>
                  <a:srgbClr val="263040"/>
                </a:solidFill>
                <a:latin typeface="Calibri"/>
              </a:rPr>
              <a:t>Objective: To update the KYC status of a user.</a:t>
            </a:r>
          </a:p>
        </p:txBody>
      </p:sp>
      <p:sp>
        <p:nvSpPr>
          <p:cNvPr id="7" name="Code box"/>
          <p:cNvSpPr/>
          <p:nvPr/>
        </p:nvSpPr>
        <p:spPr>
          <a:xfrm>
            <a:off x="548640" y="1823466"/>
            <a:ext cx="5257800" cy="190703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42337"/>
            <a:ext cx="4983480" cy="1724152"/>
          </a:xfrm>
          <a:prstGeom prst="rect">
            <a:avLst/>
          </a:prstGeom>
          <a:noFill/>
        </p:spPr>
        <p:txBody>
          <a:bodyPr wrap="square" lIns="0" tIns="0" rIns="0" bIns="0" anchor="t">
            <a:spAutoFit/>
          </a:bodyPr>
          <a:lstStyle/>
          <a:p>
            <a:r>
              <a:rPr sz="1300" b="0" i="0">
                <a:solidFill>
                  <a:srgbClr val="1E293B"/>
                </a:solidFill>
                <a:latin typeface="Consolas"/>
              </a:rPr>
              <a:t>UPDATE USERS</a:t>
            </a:r>
          </a:p>
          <a:p>
            <a:r>
              <a:rPr sz="1300" b="0" i="0">
                <a:solidFill>
                  <a:srgbClr val="1E293B"/>
                </a:solidFill>
                <a:latin typeface="Consolas"/>
              </a:rPr>
              <a:t>SET kyc_status = 'VERIFIED'</a:t>
            </a:r>
          </a:p>
          <a:p>
            <a:r>
              <a:rPr sz="1300" b="0" i="0">
                <a:solidFill>
                  <a:srgbClr val="1E293B"/>
                </a:solidFill>
                <a:latin typeface="Consolas"/>
              </a:rPr>
              <a:t>WHERE email = 'rohan.verma@example.com';</a:t>
            </a:r>
          </a:p>
          <a:p>
            <a:r>
              <a:rPr sz="1300" b="0" i="0">
                <a:solidFill>
                  <a:srgbClr val="1E293B"/>
                </a:solidFill>
                <a:latin typeface="Consolas"/>
              </a:rPr>
              <a:t> </a:t>
            </a:r>
          </a:p>
          <a:p>
            <a:r>
              <a:rPr sz="1300" b="0" i="0">
                <a:solidFill>
                  <a:srgbClr val="1E293B"/>
                </a:solidFill>
                <a:latin typeface="Consolas"/>
              </a:rPr>
              <a:t>SELECT full_name, kyc_status FROM USERS</a:t>
            </a:r>
          </a:p>
          <a:p>
            <a:r>
              <a:rPr sz="1300" b="0" i="0">
                <a:solidFill>
                  <a:srgbClr val="1E293B"/>
                </a:solidFill>
                <a:latin typeface="Consolas"/>
              </a:rPr>
              <a:t>WHERE email = 'rohan.verma@example.com';</a:t>
            </a:r>
          </a:p>
          <a:p>
            <a:r>
              <a:rPr sz="1300" b="0" i="0">
                <a:solidFill>
                  <a:srgbClr val="1E293B"/>
                </a:solidFill>
                <a:latin typeface="Consolas"/>
              </a:rPr>
              <a:t> </a:t>
            </a:r>
          </a:p>
          <a:p>
            <a:r>
              <a:rPr sz="1300" b="0" i="0">
                <a:solidFill>
                  <a:srgbClr val="1E293B"/>
                </a:solidFill>
                <a:latin typeface="Consolas"/>
              </a:rPr>
              <a:t>COMMIT;</a:t>
            </a:r>
          </a:p>
        </p:txBody>
      </p:sp>
      <p:sp>
        <p:nvSpPr>
          <p:cNvPr id="9" name="TextBox 8"/>
          <p:cNvSpPr txBox="1"/>
          <p:nvPr/>
        </p:nvSpPr>
        <p:spPr>
          <a:xfrm>
            <a:off x="548640" y="3840226"/>
            <a:ext cx="5257800" cy="947928"/>
          </a:xfrm>
          <a:prstGeom prst="rect">
            <a:avLst/>
          </a:prstGeom>
          <a:noFill/>
        </p:spPr>
        <p:txBody>
          <a:bodyPr wrap="square" lIns="0" tIns="0" rIns="0" bIns="0" anchor="t">
            <a:spAutoFit/>
          </a:bodyPr>
          <a:lstStyle/>
          <a:p>
            <a:r>
              <a:rPr sz="1500" b="1" i="0">
                <a:solidFill>
                  <a:srgbClr val="0B7A75"/>
                </a:solidFill>
                <a:latin typeface="Calibri"/>
              </a:rPr>
              <a:t>Explanation: </a:t>
            </a:r>
            <a:r>
              <a:rPr sz="1500" b="0" i="0">
                <a:solidFill>
                  <a:srgbClr val="263040"/>
                </a:solidFill>
                <a:latin typeface="Calibri"/>
              </a:rPr>
              <a:t>The UPDATE command changes Rohan Verma's KYC status from PENDING to VERIFIED. The WHERE clause ensures that only the intended user's record is modified. The SELECT statement verifies the change, and COMMIT saves it.</a:t>
            </a:r>
          </a:p>
        </p:txBody>
      </p:sp>
      <p:pic>
        <p:nvPicPr>
          <p:cNvPr id="10" name="Screenshot" descr="image.jpg"/>
          <p:cNvPicPr>
            <a:picLocks noChangeAspect="1"/>
          </p:cNvPicPr>
          <p:nvPr/>
        </p:nvPicPr>
        <p:blipFill>
          <a:blip r:embed="rId2"/>
          <a:stretch>
            <a:fillRect/>
          </a:stretch>
        </p:blipFill>
        <p:spPr>
          <a:xfrm>
            <a:off x="6172200" y="1481328"/>
            <a:ext cx="5470855" cy="128397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5. DML OPERATIONS (INSERT, UPDATE, DELETE)</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4. DELETE — Removing a record</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30</a:t>
            </a:r>
          </a:p>
        </p:txBody>
      </p:sp>
      <p:sp>
        <p:nvSpPr>
          <p:cNvPr id="6" name="TextBox 5"/>
          <p:cNvSpPr txBox="1"/>
          <p:nvPr/>
        </p:nvSpPr>
        <p:spPr>
          <a:xfrm>
            <a:off x="548640" y="1481328"/>
            <a:ext cx="5257800" cy="219710"/>
          </a:xfrm>
          <a:prstGeom prst="rect">
            <a:avLst/>
          </a:prstGeom>
          <a:noFill/>
        </p:spPr>
        <p:txBody>
          <a:bodyPr wrap="square" lIns="0" tIns="0" rIns="0" bIns="0" anchor="t">
            <a:spAutoFit/>
          </a:bodyPr>
          <a:lstStyle/>
          <a:p>
            <a:r>
              <a:rPr sz="1300" b="0" i="0">
                <a:solidFill>
                  <a:srgbClr val="263040"/>
                </a:solidFill>
                <a:latin typeface="Calibri"/>
              </a:rPr>
              <a:t>Objective: To demonstrate the deletion of a temporary user record safely.</a:t>
            </a:r>
          </a:p>
        </p:txBody>
      </p:sp>
      <p:sp>
        <p:nvSpPr>
          <p:cNvPr id="7" name="Code box"/>
          <p:cNvSpPr/>
          <p:nvPr/>
        </p:nvSpPr>
        <p:spPr>
          <a:xfrm>
            <a:off x="548640" y="1792478"/>
            <a:ext cx="5257800" cy="322465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11350"/>
            <a:ext cx="4983480" cy="3041777"/>
          </a:xfrm>
          <a:prstGeom prst="rect">
            <a:avLst/>
          </a:prstGeom>
          <a:noFill/>
        </p:spPr>
        <p:txBody>
          <a:bodyPr wrap="square" lIns="0" tIns="0" rIns="0" bIns="0" anchor="t">
            <a:spAutoFit/>
          </a:bodyPr>
          <a:lstStyle/>
          <a:p>
            <a:r>
              <a:rPr sz="1100" b="0" i="0">
                <a:solidFill>
                  <a:srgbClr val="1E293B"/>
                </a:solidFill>
                <a:latin typeface="Consolas"/>
              </a:rPr>
              <a:t>INSERT INTO USERS</a:t>
            </a:r>
          </a:p>
          <a:p>
            <a:r>
              <a:rPr sz="1100" b="0" i="0">
                <a:solidFill>
                  <a:srgbClr val="1E293B"/>
                </a:solidFill>
                <a:latin typeface="Consolas"/>
              </a:rPr>
              <a:t>  (full_name, email, phone_number, kyc_status) VALUES</a:t>
            </a:r>
          </a:p>
          <a:p>
            <a:r>
              <a:rPr sz="1100" b="0" i="0">
                <a:solidFill>
                  <a:srgbClr val="1E293B"/>
                </a:solidFill>
                <a:latin typeface="Consolas"/>
              </a:rPr>
              <a:t>  ('Temporary Demo', 'temporary.demo@example.com',</a:t>
            </a:r>
          </a:p>
          <a:p>
            <a:r>
              <a:rPr sz="1100" b="0" i="0">
                <a:solidFill>
                  <a:srgbClr val="1E293B"/>
                </a:solidFill>
                <a:latin typeface="Consolas"/>
              </a:rPr>
              <a:t>  '+919876543299', 'PENDING');</a:t>
            </a:r>
          </a:p>
          <a:p>
            <a:r>
              <a:rPr sz="1100" b="0" i="0">
                <a:solidFill>
                  <a:srgbClr val="1E293B"/>
                </a:solidFill>
                <a:latin typeface="Consolas"/>
              </a:rPr>
              <a:t> </a:t>
            </a:r>
          </a:p>
          <a:p>
            <a:r>
              <a:rPr sz="1100" b="0" i="0">
                <a:solidFill>
                  <a:srgbClr val="1E293B"/>
                </a:solidFill>
                <a:latin typeface="Consolas"/>
              </a:rPr>
              <a:t>COMMIT;</a:t>
            </a:r>
          </a:p>
          <a:p>
            <a:r>
              <a:rPr sz="1100" b="0" i="0">
                <a:solidFill>
                  <a:srgbClr val="1E293B"/>
                </a:solidFill>
                <a:latin typeface="Consolas"/>
              </a:rPr>
              <a:t> </a:t>
            </a:r>
          </a:p>
          <a:p>
            <a:r>
              <a:rPr sz="1100" b="0" i="0">
                <a:solidFill>
                  <a:srgbClr val="1E293B"/>
                </a:solidFill>
                <a:latin typeface="Consolas"/>
              </a:rPr>
              <a:t>SELECT user_id, full_name, email FROM USERS</a:t>
            </a:r>
          </a:p>
          <a:p>
            <a:r>
              <a:rPr sz="1100" b="0" i="0">
                <a:solidFill>
                  <a:srgbClr val="1E293B"/>
                </a:solidFill>
                <a:latin typeface="Consolas"/>
              </a:rPr>
              <a:t>WHERE email = 'temporary.demo@example.com';</a:t>
            </a:r>
          </a:p>
          <a:p>
            <a:r>
              <a:rPr sz="1100" b="0" i="0">
                <a:solidFill>
                  <a:srgbClr val="1E293B"/>
                </a:solidFill>
                <a:latin typeface="Consolas"/>
              </a:rPr>
              <a:t> </a:t>
            </a:r>
          </a:p>
          <a:p>
            <a:r>
              <a:rPr sz="1100" b="0" i="0">
                <a:solidFill>
                  <a:srgbClr val="1E293B"/>
                </a:solidFill>
                <a:latin typeface="Consolas"/>
              </a:rPr>
              <a:t>DELETE FROM USERS</a:t>
            </a:r>
          </a:p>
          <a:p>
            <a:r>
              <a:rPr sz="1100" b="0" i="0">
                <a:solidFill>
                  <a:srgbClr val="1E293B"/>
                </a:solidFill>
                <a:latin typeface="Consolas"/>
              </a:rPr>
              <a:t>WHERE email = 'temporary.demo@example.com';</a:t>
            </a:r>
          </a:p>
          <a:p>
            <a:r>
              <a:rPr sz="1100" b="0" i="0">
                <a:solidFill>
                  <a:srgbClr val="1E293B"/>
                </a:solidFill>
                <a:latin typeface="Consolas"/>
              </a:rPr>
              <a:t> </a:t>
            </a:r>
          </a:p>
          <a:p>
            <a:r>
              <a:rPr sz="1100" b="0" i="0">
                <a:solidFill>
                  <a:srgbClr val="1E293B"/>
                </a:solidFill>
                <a:latin typeface="Consolas"/>
              </a:rPr>
              <a:t>SELECT user_id, full_name, email FROM USERS</a:t>
            </a:r>
          </a:p>
          <a:p>
            <a:r>
              <a:rPr sz="1100" b="0" i="0">
                <a:solidFill>
                  <a:srgbClr val="1E293B"/>
                </a:solidFill>
                <a:latin typeface="Consolas"/>
              </a:rPr>
              <a:t>WHERE email = 'temporary.demo@example.com';</a:t>
            </a:r>
          </a:p>
          <a:p>
            <a:r>
              <a:rPr sz="1100" b="0" i="0">
                <a:solidFill>
                  <a:srgbClr val="1E293B"/>
                </a:solidFill>
                <a:latin typeface="Consolas"/>
              </a:rPr>
              <a:t> </a:t>
            </a:r>
          </a:p>
          <a:p>
            <a:r>
              <a:rPr sz="1100" b="0" i="0">
                <a:solidFill>
                  <a:srgbClr val="1E293B"/>
                </a:solidFill>
                <a:latin typeface="Consolas"/>
              </a:rPr>
              <a:t>COMMIT;</a:t>
            </a:r>
          </a:p>
        </p:txBody>
      </p:sp>
      <p:sp>
        <p:nvSpPr>
          <p:cNvPr id="9" name="TextBox 8"/>
          <p:cNvSpPr txBox="1"/>
          <p:nvPr/>
        </p:nvSpPr>
        <p:spPr>
          <a:xfrm>
            <a:off x="548640" y="5126863"/>
            <a:ext cx="5257800" cy="823976"/>
          </a:xfrm>
          <a:prstGeom prst="rect">
            <a:avLst/>
          </a:prstGeom>
          <a:noFill/>
        </p:spPr>
        <p:txBody>
          <a:bodyPr wrap="square" lIns="0" tIns="0" rIns="0" bIns="0" anchor="t">
            <a:spAutoFit/>
          </a:bodyPr>
          <a:lstStyle/>
          <a:p>
            <a:r>
              <a:rPr sz="1300" b="1" i="0">
                <a:solidFill>
                  <a:srgbClr val="0B7A75"/>
                </a:solidFill>
                <a:latin typeface="Calibri"/>
              </a:rPr>
              <a:t>Explanation: </a:t>
            </a:r>
            <a:r>
              <a:rPr sz="1300" b="0" i="0">
                <a:solidFill>
                  <a:srgbClr val="263040"/>
                </a:solidFill>
                <a:latin typeface="Calibri"/>
              </a:rPr>
              <a:t>The DELETE command removes the temporary user record identified by its unique email address. The first SELECT verifies that the record exists, while the second checks that it has been removed. This user must not have dependent bank-account or payment-profile records.</a:t>
            </a:r>
          </a:p>
        </p:txBody>
      </p:sp>
      <p:pic>
        <p:nvPicPr>
          <p:cNvPr id="10" name="Screenshot" descr="image.jpg"/>
          <p:cNvPicPr>
            <a:picLocks noChangeAspect="1"/>
          </p:cNvPicPr>
          <p:nvPr/>
        </p:nvPicPr>
        <p:blipFill>
          <a:blip r:embed="rId2"/>
          <a:stretch>
            <a:fillRect/>
          </a:stretch>
        </p:blipFill>
        <p:spPr>
          <a:xfrm>
            <a:off x="6172200" y="1481328"/>
            <a:ext cx="5470855" cy="148343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5. DML OPERATIONS (INSERT, UPDATE, DELETE)</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5. ROLLBACK — Undoing uncommitted changes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31</a:t>
            </a:r>
          </a:p>
        </p:txBody>
      </p:sp>
      <p:sp>
        <p:nvSpPr>
          <p:cNvPr id="6" name="TextBox 5"/>
          <p:cNvSpPr txBox="1"/>
          <p:nvPr/>
        </p:nvSpPr>
        <p:spPr>
          <a:xfrm>
            <a:off x="548640" y="1481328"/>
            <a:ext cx="5257800" cy="483108"/>
          </a:xfrm>
          <a:prstGeom prst="rect">
            <a:avLst/>
          </a:prstGeom>
          <a:noFill/>
        </p:spPr>
        <p:txBody>
          <a:bodyPr wrap="square" lIns="0" tIns="0" rIns="0" bIns="0" anchor="t">
            <a:spAutoFit/>
          </a:bodyPr>
          <a:lstStyle/>
          <a:p>
            <a:r>
              <a:rPr sz="1500" b="0" i="0">
                <a:solidFill>
                  <a:srgbClr val="263040"/>
                </a:solidFill>
                <a:latin typeface="Calibri"/>
              </a:rPr>
              <a:t>Objective: To demonstrate how an uncommitted database modification can be cancelled.</a:t>
            </a:r>
          </a:p>
        </p:txBody>
      </p:sp>
      <p:sp>
        <p:nvSpPr>
          <p:cNvPr id="7" name="Code box"/>
          <p:cNvSpPr/>
          <p:nvPr/>
        </p:nvSpPr>
        <p:spPr>
          <a:xfrm>
            <a:off x="548640" y="2055876"/>
            <a:ext cx="5257800" cy="1700656"/>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74748"/>
            <a:ext cx="4983480" cy="1517777"/>
          </a:xfrm>
          <a:prstGeom prst="rect">
            <a:avLst/>
          </a:prstGeom>
          <a:noFill/>
        </p:spPr>
        <p:txBody>
          <a:bodyPr wrap="square" lIns="0" tIns="0" rIns="0" bIns="0" anchor="t">
            <a:spAutoFit/>
          </a:bodyPr>
          <a:lstStyle/>
          <a:p>
            <a:r>
              <a:rPr sz="1300" b="0" i="0">
                <a:solidFill>
                  <a:srgbClr val="1E293B"/>
                </a:solidFill>
                <a:latin typeface="Consolas"/>
              </a:rPr>
              <a:t>UPDATE USERS</a:t>
            </a:r>
          </a:p>
          <a:p>
            <a:r>
              <a:rPr sz="1300" b="0" i="0">
                <a:solidFill>
                  <a:srgbClr val="1E293B"/>
                </a:solidFill>
                <a:latin typeface="Consolas"/>
              </a:rPr>
              <a:t>SET kyc_status = 'PENDING'</a:t>
            </a:r>
          </a:p>
          <a:p>
            <a:r>
              <a:rPr sz="1300" b="0" i="0">
                <a:solidFill>
                  <a:srgbClr val="1E293B"/>
                </a:solidFill>
                <a:latin typeface="Consolas"/>
              </a:rPr>
              <a:t>WHERE email = 'aditya.sharma@example.com'; ROLLBACK;</a:t>
            </a:r>
          </a:p>
          <a:p>
            <a:r>
              <a:rPr sz="1300" b="0" i="0">
                <a:solidFill>
                  <a:srgbClr val="1E293B"/>
                </a:solidFill>
                <a:latin typeface="Consolas"/>
              </a:rPr>
              <a:t>SELECT full_name, kyc_status</a:t>
            </a:r>
          </a:p>
          <a:p>
            <a:r>
              <a:rPr sz="1300" b="0" i="0">
                <a:solidFill>
                  <a:srgbClr val="1E293B"/>
                </a:solidFill>
                <a:latin typeface="Consolas"/>
              </a:rPr>
              <a:t>FROM USERS</a:t>
            </a:r>
          </a:p>
          <a:p>
            <a:r>
              <a:rPr sz="1300" b="0" i="0">
                <a:solidFill>
                  <a:srgbClr val="1E293B"/>
                </a:solidFill>
                <a:latin typeface="Consolas"/>
              </a:rPr>
              <a:t>WHERE email = 'aditya.sharma@example.com';</a:t>
            </a:r>
          </a:p>
        </p:txBody>
      </p:sp>
      <p:pic>
        <p:nvPicPr>
          <p:cNvPr id="9" name="Screenshot" descr="image.jpg"/>
          <p:cNvPicPr>
            <a:picLocks noChangeAspect="1"/>
          </p:cNvPicPr>
          <p:nvPr/>
        </p:nvPicPr>
        <p:blipFill>
          <a:blip r:embed="rId2"/>
          <a:stretch>
            <a:fillRect/>
          </a:stretch>
        </p:blipFill>
        <p:spPr>
          <a:xfrm>
            <a:off x="6172200" y="1481328"/>
            <a:ext cx="5470855" cy="14627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5. DML OPERATIONS (INSERT, UPDATE, DELETE)</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7. Constraint validation summary</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32</a:t>
            </a:r>
          </a:p>
        </p:txBody>
      </p:sp>
      <p:graphicFrame>
        <p:nvGraphicFramePr>
          <p:cNvPr id="6" name="Table"/>
          <p:cNvGraphicFramePr>
            <a:graphicFrameLocks noGrp="1"/>
          </p:cNvGraphicFramePr>
          <p:nvPr/>
        </p:nvGraphicFramePr>
        <p:xfrm>
          <a:off x="548640" y="1481328"/>
          <a:ext cx="11094414" cy="2251837"/>
        </p:xfrm>
        <a:graphic>
          <a:graphicData uri="http://schemas.openxmlformats.org/drawingml/2006/table">
            <a:tbl>
              <a:tblPr>
                <a:tableStyleId>{5C22544A-7EE6-4342-B048-85BDC9FD1C3A}</a:tableStyleId>
              </a:tblPr>
              <a:tblGrid>
                <a:gridCol w="2591025">
                  <a:extLst>
                    <a:ext uri="{9D8B030D-6E8A-4147-A177-3AD203B41FA5}">
                      <a16:colId xmlns:a16="http://schemas.microsoft.com/office/drawing/2014/main" val="20000"/>
                    </a:ext>
                  </a:extLst>
                </a:gridCol>
                <a:gridCol w="8503389">
                  <a:extLst>
                    <a:ext uri="{9D8B030D-6E8A-4147-A177-3AD203B41FA5}">
                      <a16:colId xmlns:a16="http://schemas.microsoft.com/office/drawing/2014/main" val="20001"/>
                    </a:ext>
                  </a:extLst>
                </a:gridCol>
              </a:tblGrid>
              <a:tr h="321691">
                <a:tc>
                  <a:txBody>
                    <a:bodyPr/>
                    <a:lstStyle/>
                    <a:p>
                      <a:r>
                        <a:rPr sz="1250" b="1" i="0">
                          <a:solidFill>
                            <a:srgbClr val="FFFFFF"/>
                          </a:solidFill>
                          <a:latin typeface="Calibri"/>
                        </a:rPr>
                        <a:t>Constraint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tc>
                  <a:txBody>
                    <a:bodyPr/>
                    <a:lstStyle/>
                    <a:p>
                      <a:r>
                        <a:rPr sz="1250" b="1" i="0">
                          <a:solidFill>
                            <a:srgbClr val="FFFFFF"/>
                          </a:solidFill>
                          <a:latin typeface="Calibri"/>
                        </a:rPr>
                        <a:t>Expected result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14233F"/>
                    </a:solidFill>
                  </a:tcPr>
                </a:tc>
                <a:extLst>
                  <a:ext uri="{0D108BD9-81ED-4DB2-BD59-A6C34878D82A}">
                    <a16:rowId xmlns:a16="http://schemas.microsoft.com/office/drawing/2014/main" val="10000"/>
                  </a:ext>
                </a:extLst>
              </a:tr>
              <a:tr h="321691">
                <a:tc>
                  <a:txBody>
                    <a:bodyPr/>
                    <a:lstStyle/>
                    <a:p>
                      <a:r>
                        <a:rPr sz="1250" b="0" i="0">
                          <a:solidFill>
                            <a:srgbClr val="263040"/>
                          </a:solidFill>
                          <a:latin typeface="Calibri"/>
                        </a:rPr>
                        <a:t>Primary key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Duplicate ID rejected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1"/>
                  </a:ext>
                </a:extLst>
              </a:tr>
              <a:tr h="321691">
                <a:tc>
                  <a:txBody>
                    <a:bodyPr/>
                    <a:lstStyle/>
                    <a:p>
                      <a:r>
                        <a:rPr sz="1250" b="0" i="0">
                          <a:solidFill>
                            <a:srgbClr val="263040"/>
                          </a:solidFill>
                          <a:latin typeface="Calibri"/>
                        </a:rPr>
                        <a:t>Foreign key</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Nonexistent user reference rejected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2"/>
                  </a:ext>
                </a:extLst>
              </a:tr>
              <a:tr h="321691">
                <a:tc>
                  <a:txBody>
                    <a:bodyPr/>
                    <a:lstStyle/>
                    <a:p>
                      <a:r>
                        <a:rPr sz="1250" b="0" i="0">
                          <a:solidFill>
                            <a:srgbClr val="263040"/>
                          </a:solidFill>
                          <a:latin typeface="Calibri"/>
                        </a:rPr>
                        <a:t>Unique</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Duplicate email rejected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3"/>
                  </a:ext>
                </a:extLst>
              </a:tr>
              <a:tr h="321691">
                <a:tc>
                  <a:txBody>
                    <a:bodyPr/>
                    <a:lstStyle/>
                    <a:p>
                      <a:r>
                        <a:rPr sz="1250" b="0" i="0">
                          <a:solidFill>
                            <a:srgbClr val="263040"/>
                          </a:solidFill>
                          <a:latin typeface="Calibri"/>
                        </a:rPr>
                        <a:t>Not null</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Missing email rejected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4"/>
                  </a:ext>
                </a:extLst>
              </a:tr>
              <a:tr h="321691">
                <a:tc>
                  <a:txBody>
                    <a:bodyPr/>
                    <a:lstStyle/>
                    <a:p>
                      <a:r>
                        <a:rPr sz="1250" b="0" i="0">
                          <a:solidFill>
                            <a:srgbClr val="263040"/>
                          </a:solidFill>
                          <a:latin typeface="Calibri"/>
                        </a:rPr>
                        <a:t>Check</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tc>
                  <a:txBody>
                    <a:bodyPr/>
                    <a:lstStyle/>
                    <a:p>
                      <a:r>
                        <a:rPr sz="1250" b="0" i="0">
                          <a:solidFill>
                            <a:srgbClr val="263040"/>
                          </a:solidFill>
                          <a:latin typeface="Calibri"/>
                        </a:rPr>
                        <a:t>Invalid KYC status rejected</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FFFFF"/>
                    </a:solidFill>
                  </a:tcPr>
                </a:tc>
                <a:extLst>
                  <a:ext uri="{0D108BD9-81ED-4DB2-BD59-A6C34878D82A}">
                    <a16:rowId xmlns:a16="http://schemas.microsoft.com/office/drawing/2014/main" val="10005"/>
                  </a:ext>
                </a:extLst>
              </a:tr>
              <a:tr h="321691">
                <a:tc>
                  <a:txBody>
                    <a:bodyPr/>
                    <a:lstStyle/>
                    <a:p>
                      <a:r>
                        <a:rPr sz="1250" b="0" i="0">
                          <a:solidFill>
                            <a:srgbClr val="263040"/>
                          </a:solidFill>
                          <a:latin typeface="Calibri"/>
                        </a:rPr>
                        <a:t>Default</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tc>
                  <a:txBody>
                    <a:bodyPr/>
                    <a:lstStyle/>
                    <a:p>
                      <a:r>
                        <a:rPr sz="1250" b="0" i="0">
                          <a:solidFill>
                            <a:srgbClr val="263040"/>
                          </a:solidFill>
                          <a:latin typeface="Calibri"/>
                        </a:rPr>
                        <a:t>KYC status automatically set to PENDING</a:t>
                      </a:r>
                    </a:p>
                  </a:txBody>
                  <a:tcPr anchor="ctr">
                    <a:lnL w="6350">
                      <a:solidFill>
                        <a:srgbClr val="D3D9E2"/>
                      </a:solidFill>
                    </a:lnL>
                    <a:lnR w="6350">
                      <a:solidFill>
                        <a:srgbClr val="D3D9E2"/>
                      </a:solidFill>
                    </a:lnR>
                    <a:lnT w="6350">
                      <a:solidFill>
                        <a:srgbClr val="D3D9E2"/>
                      </a:solidFill>
                    </a:lnT>
                    <a:lnB w="6350">
                      <a:solidFill>
                        <a:srgbClr val="D3D9E2"/>
                      </a:solidFill>
                    </a:lnB>
                    <a:solidFill>
                      <a:srgbClr val="F4F7F9"/>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48640" y="4056752"/>
            <a:ext cx="11094415" cy="432307"/>
          </a:xfrm>
          <a:prstGeom prst="rect">
            <a:avLst/>
          </a:prstGeom>
          <a:noFill/>
        </p:spPr>
        <p:txBody>
          <a:bodyPr wrap="square" lIns="0" tIns="0" rIns="0" bIns="0" anchor="t">
            <a:spAutoFit/>
          </a:bodyPr>
          <a:lstStyle/>
          <a:p>
            <a:r>
              <a:rPr sz="1100" b="0" i="1">
                <a:solidFill>
                  <a:srgbClr val="6B7585"/>
                </a:solidFill>
                <a:latin typeface="Calibri"/>
              </a:rPr>
              <a:t>SQL*Plus-style output screenshots are included below as illustrative examples. Because the live Oracle database was not available in this editing step, run the queries in your own schema and replace these sample captures with genuine terminal screenshots before submission.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6. Single-Row SQL Functions</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33</a:t>
            </a:r>
          </a:p>
        </p:txBody>
      </p:sp>
      <p:sp>
        <p:nvSpPr>
          <p:cNvPr id="5" name="TextBox 4"/>
          <p:cNvSpPr txBox="1"/>
          <p:nvPr/>
        </p:nvSpPr>
        <p:spPr>
          <a:xfrm>
            <a:off x="548640" y="1481328"/>
            <a:ext cx="5257800" cy="947928"/>
          </a:xfrm>
          <a:prstGeom prst="rect">
            <a:avLst/>
          </a:prstGeom>
          <a:noFill/>
        </p:spPr>
        <p:txBody>
          <a:bodyPr wrap="square" lIns="0" tIns="0" rIns="0" bIns="0" anchor="t">
            <a:spAutoFit/>
          </a:bodyPr>
          <a:lstStyle/>
          <a:p>
            <a:r>
              <a:rPr sz="1500" b="0" i="0">
                <a:solidFill>
                  <a:srgbClr val="263040"/>
                </a:solidFill>
                <a:latin typeface="Calibri"/>
              </a:rPr>
              <a:t>Single-row functions operate on one row at a time and return one result for each row. In your payment database, they can help format customer details, mask account numbers, calculate fees and display dates.</a:t>
            </a:r>
          </a:p>
        </p:txBody>
      </p:sp>
      <p:sp>
        <p:nvSpPr>
          <p:cNvPr id="6" name="TextBox 5"/>
          <p:cNvSpPr txBox="1"/>
          <p:nvPr/>
        </p:nvSpPr>
        <p:spPr>
          <a:xfrm>
            <a:off x="548640" y="2520696"/>
            <a:ext cx="5257800" cy="354837"/>
          </a:xfrm>
          <a:prstGeom prst="rect">
            <a:avLst/>
          </a:prstGeom>
          <a:noFill/>
        </p:spPr>
        <p:txBody>
          <a:bodyPr wrap="square" lIns="0" tIns="0" rIns="0" bIns="0" anchor="t">
            <a:spAutoFit/>
          </a:bodyPr>
          <a:lstStyle/>
          <a:p>
            <a:r>
              <a:rPr sz="1700" b="1" i="0">
                <a:solidFill>
                  <a:srgbClr val="14233F"/>
                </a:solidFill>
                <a:latin typeface="Calibri"/>
              </a:rPr>
              <a:t>UPPER and LOWER</a:t>
            </a:r>
          </a:p>
        </p:txBody>
      </p:sp>
      <p:sp>
        <p:nvSpPr>
          <p:cNvPr id="7" name="TextBox 6"/>
          <p:cNvSpPr txBox="1"/>
          <p:nvPr/>
        </p:nvSpPr>
        <p:spPr>
          <a:xfrm>
            <a:off x="548640" y="2875534"/>
            <a:ext cx="5257800" cy="483108"/>
          </a:xfrm>
          <a:prstGeom prst="rect">
            <a:avLst/>
          </a:prstGeom>
          <a:noFill/>
        </p:spPr>
        <p:txBody>
          <a:bodyPr wrap="square" lIns="0" tIns="0" rIns="0" bIns="0" anchor="t">
            <a:spAutoFit/>
          </a:bodyPr>
          <a:lstStyle/>
          <a:p>
            <a:r>
              <a:rPr sz="1500" b="0" i="0">
                <a:solidFill>
                  <a:srgbClr val="263040"/>
                </a:solidFill>
                <a:latin typeface="Calibri"/>
              </a:rPr>
              <a:t>Objective: To standardize names and email addresses for display and lookup.</a:t>
            </a:r>
          </a:p>
        </p:txBody>
      </p:sp>
      <p:sp>
        <p:nvSpPr>
          <p:cNvPr id="8" name="Code box"/>
          <p:cNvSpPr/>
          <p:nvPr/>
        </p:nvSpPr>
        <p:spPr>
          <a:xfrm>
            <a:off x="548640" y="3450082"/>
            <a:ext cx="5257800" cy="108153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568954"/>
            <a:ext cx="4983480" cy="898652"/>
          </a:xfrm>
          <a:prstGeom prst="rect">
            <a:avLst/>
          </a:prstGeom>
          <a:noFill/>
        </p:spPr>
        <p:txBody>
          <a:bodyPr wrap="square" lIns="0" tIns="0" rIns="0" bIns="0" anchor="t">
            <a:spAutoFit/>
          </a:bodyPr>
          <a:lstStyle/>
          <a:p>
            <a:r>
              <a:rPr sz="1300" b="0" i="0">
                <a:solidFill>
                  <a:srgbClr val="1E293B"/>
                </a:solidFill>
                <a:latin typeface="Consolas"/>
              </a:rPr>
              <a:t>SELECT</a:t>
            </a:r>
          </a:p>
          <a:p>
            <a:r>
              <a:rPr sz="1300" b="0" i="0">
                <a:solidFill>
                  <a:srgbClr val="1E293B"/>
                </a:solidFill>
                <a:latin typeface="Consolas"/>
              </a:rPr>
              <a:t>  full_name,</a:t>
            </a:r>
          </a:p>
          <a:p>
            <a:r>
              <a:rPr sz="1300" b="0" i="0">
                <a:solidFill>
                  <a:srgbClr val="1E293B"/>
                </a:solidFill>
                <a:latin typeface="Consolas"/>
              </a:rPr>
              <a:t>  UPPER(full_name) AS uppercase_name, email,</a:t>
            </a:r>
          </a:p>
          <a:p>
            <a:r>
              <a:rPr sz="1300" b="0" i="0">
                <a:solidFill>
                  <a:srgbClr val="1E293B"/>
                </a:solidFill>
                <a:latin typeface="Consolas"/>
              </a:rPr>
              <a:t>  LOWER(email) AS lowercase_email FROM USERS;</a:t>
            </a:r>
          </a:p>
        </p:txBody>
      </p:sp>
      <p:pic>
        <p:nvPicPr>
          <p:cNvPr id="10" name="Screenshot" descr="image.png"/>
          <p:cNvPicPr>
            <a:picLocks noChangeAspect="1"/>
          </p:cNvPicPr>
          <p:nvPr/>
        </p:nvPicPr>
        <p:blipFill>
          <a:blip r:embed="rId2"/>
          <a:stretch>
            <a:fillRect/>
          </a:stretch>
        </p:blipFill>
        <p:spPr>
          <a:xfrm>
            <a:off x="6172200" y="1481328"/>
            <a:ext cx="5470855" cy="177570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6. SINGLE-ROW SQL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2. LENGTH</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34</a:t>
            </a:r>
          </a:p>
        </p:txBody>
      </p:sp>
      <p:sp>
        <p:nvSpPr>
          <p:cNvPr id="6" name="TextBox 5"/>
          <p:cNvSpPr txBox="1"/>
          <p:nvPr/>
        </p:nvSpPr>
        <p:spPr>
          <a:xfrm>
            <a:off x="548640" y="1481328"/>
            <a:ext cx="5257800" cy="483108"/>
          </a:xfrm>
          <a:prstGeom prst="rect">
            <a:avLst/>
          </a:prstGeom>
          <a:noFill/>
        </p:spPr>
        <p:txBody>
          <a:bodyPr wrap="square" lIns="0" tIns="0" rIns="0" bIns="0" anchor="t">
            <a:spAutoFit/>
          </a:bodyPr>
          <a:lstStyle/>
          <a:p>
            <a:r>
              <a:rPr sz="1500" b="0" i="0">
                <a:solidFill>
                  <a:srgbClr val="263040"/>
                </a:solidFill>
                <a:latin typeface="Calibri"/>
              </a:rPr>
              <a:t>Objective: To find the number of characters in an IFSC code and phone number.</a:t>
            </a:r>
          </a:p>
        </p:txBody>
      </p:sp>
      <p:sp>
        <p:nvSpPr>
          <p:cNvPr id="7" name="Code box"/>
          <p:cNvSpPr/>
          <p:nvPr/>
        </p:nvSpPr>
        <p:spPr>
          <a:xfrm>
            <a:off x="548640" y="2055876"/>
            <a:ext cx="5257800" cy="1700656"/>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74748"/>
            <a:ext cx="4983480" cy="1517777"/>
          </a:xfrm>
          <a:prstGeom prst="rect">
            <a:avLst/>
          </a:prstGeom>
          <a:noFill/>
        </p:spPr>
        <p:txBody>
          <a:bodyPr wrap="square" lIns="0" tIns="0" rIns="0" bIns="0" anchor="t">
            <a:spAutoFit/>
          </a:bodyPr>
          <a:lstStyle/>
          <a:p>
            <a:r>
              <a:rPr sz="1300" b="0" i="0">
                <a:solidFill>
                  <a:srgbClr val="1E293B"/>
                </a:solidFill>
                <a:latin typeface="Consolas"/>
              </a:rPr>
              <a:t>SELECT</a:t>
            </a:r>
          </a:p>
          <a:p>
            <a:r>
              <a:rPr sz="1300" b="0" i="0">
                <a:solidFill>
                  <a:srgbClr val="1E293B"/>
                </a:solidFill>
                <a:latin typeface="Consolas"/>
              </a:rPr>
              <a:t>  b.bank_name, b.ifsc_code,</a:t>
            </a:r>
          </a:p>
          <a:p>
            <a:r>
              <a:rPr sz="1300" b="0" i="0">
                <a:solidFill>
                  <a:srgbClr val="1E293B"/>
                </a:solidFill>
                <a:latin typeface="Consolas"/>
              </a:rPr>
              <a:t>  LENGTH(b.ifsc_code) AS ifsc_length, u.phone_number,</a:t>
            </a:r>
          </a:p>
          <a:p>
            <a:r>
              <a:rPr sz="1300" b="0" i="0">
                <a:solidFill>
                  <a:srgbClr val="1E293B"/>
                </a:solidFill>
                <a:latin typeface="Consolas"/>
              </a:rPr>
              <a:t>  LENGTH(u.phone_number) AS phone_length FROM BANK_ACCOUNTS b</a:t>
            </a:r>
          </a:p>
          <a:p>
            <a:r>
              <a:rPr sz="1300" b="0" i="0">
                <a:solidFill>
                  <a:srgbClr val="1E293B"/>
                </a:solidFill>
                <a:latin typeface="Consolas"/>
              </a:rPr>
              <a:t>JOIN USERS u ON b.user_id = u.user_id;</a:t>
            </a:r>
          </a:p>
        </p:txBody>
      </p:sp>
      <p:sp>
        <p:nvSpPr>
          <p:cNvPr id="9" name="TextBox 8"/>
          <p:cNvSpPr txBox="1"/>
          <p:nvPr/>
        </p:nvSpPr>
        <p:spPr>
          <a:xfrm>
            <a:off x="6172200" y="1481328"/>
            <a:ext cx="5470855" cy="251333"/>
          </a:xfrm>
          <a:prstGeom prst="rect">
            <a:avLst/>
          </a:prstGeom>
          <a:noFill/>
        </p:spPr>
        <p:txBody>
          <a:bodyPr wrap="square" lIns="0" tIns="0" rIns="0" bIns="0" anchor="t">
            <a:spAutoFit/>
          </a:bodyPr>
          <a:lstStyle/>
          <a:p>
            <a:r>
              <a:rPr sz="1150" b="1" i="0">
                <a:solidFill>
                  <a:srgbClr val="6B7585"/>
                </a:solidFill>
                <a:latin typeface="Calibri"/>
              </a:rPr>
              <a:t>LENGTH</a:t>
            </a:r>
          </a:p>
        </p:txBody>
      </p:sp>
      <p:pic>
        <p:nvPicPr>
          <p:cNvPr id="10" name="Screenshot" descr="image.png"/>
          <p:cNvPicPr>
            <a:picLocks noChangeAspect="1"/>
          </p:cNvPicPr>
          <p:nvPr/>
        </p:nvPicPr>
        <p:blipFill>
          <a:blip r:embed="rId2"/>
          <a:stretch>
            <a:fillRect/>
          </a:stretch>
        </p:blipFill>
        <p:spPr>
          <a:xfrm>
            <a:off x="6172200" y="1732661"/>
            <a:ext cx="5470855" cy="140016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6. SINGLE-ROW SQL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2. Numeric Function – ROUND()</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35</a:t>
            </a:r>
          </a:p>
        </p:txBody>
      </p:sp>
      <p:sp>
        <p:nvSpPr>
          <p:cNvPr id="6" name="TextBox 5"/>
          <p:cNvSpPr txBox="1"/>
          <p:nvPr/>
        </p:nvSpPr>
        <p:spPr>
          <a:xfrm>
            <a:off x="548640" y="1481328"/>
            <a:ext cx="5257800" cy="250698"/>
          </a:xfrm>
          <a:prstGeom prst="rect">
            <a:avLst/>
          </a:prstGeom>
          <a:noFill/>
        </p:spPr>
        <p:txBody>
          <a:bodyPr wrap="square" lIns="0" tIns="0" rIns="0" bIns="0" anchor="t">
            <a:spAutoFit/>
          </a:bodyPr>
          <a:lstStyle/>
          <a:p>
            <a:r>
              <a:rPr sz="1500" b="0" i="0">
                <a:solidFill>
                  <a:srgbClr val="263040"/>
                </a:solidFill>
                <a:latin typeface="Calibri"/>
              </a:rPr>
              <a:t>Purpose: Round transaction amounts to two decimal places.</a:t>
            </a:r>
          </a:p>
        </p:txBody>
      </p:sp>
      <p:sp>
        <p:nvSpPr>
          <p:cNvPr id="7" name="Code box"/>
          <p:cNvSpPr/>
          <p:nvPr/>
        </p:nvSpPr>
        <p:spPr>
          <a:xfrm>
            <a:off x="548640" y="1823466"/>
            <a:ext cx="5257800" cy="108153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42337"/>
            <a:ext cx="4983480" cy="898652"/>
          </a:xfrm>
          <a:prstGeom prst="rect">
            <a:avLst/>
          </a:prstGeom>
          <a:noFill/>
        </p:spPr>
        <p:txBody>
          <a:bodyPr wrap="square" lIns="0" tIns="0" rIns="0" bIns="0" anchor="t">
            <a:spAutoFit/>
          </a:bodyPr>
          <a:lstStyle/>
          <a:p>
            <a:r>
              <a:rPr sz="1300" b="0" i="0">
                <a:solidFill>
                  <a:srgbClr val="1E293B"/>
                </a:solidFill>
                <a:latin typeface="Consolas"/>
              </a:rPr>
              <a:t>SELECT transaction_ref,</a:t>
            </a:r>
          </a:p>
          <a:p>
            <a:r>
              <a:rPr sz="1300" b="0" i="0">
                <a:solidFill>
                  <a:srgbClr val="1E293B"/>
                </a:solidFill>
                <a:latin typeface="Consolas"/>
              </a:rPr>
              <a:t>    amount,</a:t>
            </a:r>
          </a:p>
          <a:p>
            <a:r>
              <a:rPr sz="1300" b="0" i="0">
                <a:solidFill>
                  <a:srgbClr val="1E293B"/>
                </a:solidFill>
                <a:latin typeface="Consolas"/>
              </a:rPr>
              <a:t>    ROUND(amount, 2) AS rounded_amount FROM PAYMENT_TRANSACTIONS;</a:t>
            </a:r>
          </a:p>
        </p:txBody>
      </p:sp>
      <p:sp>
        <p:nvSpPr>
          <p:cNvPr id="9" name="TextBox 8"/>
          <p:cNvSpPr txBox="1"/>
          <p:nvPr/>
        </p:nvSpPr>
        <p:spPr>
          <a:xfrm>
            <a:off x="548640" y="3014726"/>
            <a:ext cx="5257800" cy="483108"/>
          </a:xfrm>
          <a:prstGeom prst="rect">
            <a:avLst/>
          </a:prstGeom>
          <a:noFill/>
        </p:spPr>
        <p:txBody>
          <a:bodyPr wrap="square" lIns="0" tIns="0" rIns="0" bIns="0" anchor="t">
            <a:spAutoFit/>
          </a:bodyPr>
          <a:lstStyle/>
          <a:p>
            <a:r>
              <a:rPr sz="1500" b="1" i="0">
                <a:solidFill>
                  <a:srgbClr val="0B7A75"/>
                </a:solidFill>
                <a:latin typeface="Calibri"/>
              </a:rPr>
              <a:t>Explanation: </a:t>
            </a:r>
            <a:r>
              <a:rPr sz="1500" b="0" i="0">
                <a:solidFill>
                  <a:srgbClr val="263040"/>
                </a:solidFill>
                <a:latin typeface="Calibri"/>
              </a:rPr>
              <a:t>ROUND() rounds a numeric value to the specified number of decimal places.</a:t>
            </a:r>
          </a:p>
        </p:txBody>
      </p:sp>
      <p:sp>
        <p:nvSpPr>
          <p:cNvPr id="10" name="TextBox 9"/>
          <p:cNvSpPr txBox="1"/>
          <p:nvPr/>
        </p:nvSpPr>
        <p:spPr>
          <a:xfrm>
            <a:off x="6172200" y="1481328"/>
            <a:ext cx="5470855" cy="251333"/>
          </a:xfrm>
          <a:prstGeom prst="rect">
            <a:avLst/>
          </a:prstGeom>
          <a:noFill/>
        </p:spPr>
        <p:txBody>
          <a:bodyPr wrap="square" lIns="0" tIns="0" rIns="0" bIns="0" anchor="t">
            <a:spAutoFit/>
          </a:bodyPr>
          <a:lstStyle/>
          <a:p>
            <a:r>
              <a:rPr sz="1150" b="1" i="0">
                <a:solidFill>
                  <a:srgbClr val="6B7585"/>
                </a:solidFill>
                <a:latin typeface="Calibri"/>
              </a:rPr>
              <a:t>ROUND</a:t>
            </a:r>
          </a:p>
        </p:txBody>
      </p:sp>
      <p:pic>
        <p:nvPicPr>
          <p:cNvPr id="11" name="Screenshot" descr="image.png"/>
          <p:cNvPicPr>
            <a:picLocks noChangeAspect="1"/>
          </p:cNvPicPr>
          <p:nvPr/>
        </p:nvPicPr>
        <p:blipFill>
          <a:blip r:embed="rId2"/>
          <a:stretch>
            <a:fillRect/>
          </a:stretch>
        </p:blipFill>
        <p:spPr>
          <a:xfrm>
            <a:off x="6172200" y="1732661"/>
            <a:ext cx="5470855" cy="165052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6. SINGLE-ROW SQL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2. NVL</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36</a:t>
            </a:r>
          </a:p>
        </p:txBody>
      </p:sp>
      <p:sp>
        <p:nvSpPr>
          <p:cNvPr id="6" name="TextBox 5"/>
          <p:cNvSpPr txBox="1"/>
          <p:nvPr/>
        </p:nvSpPr>
        <p:spPr>
          <a:xfrm>
            <a:off x="548640" y="1481328"/>
            <a:ext cx="5257800" cy="250698"/>
          </a:xfrm>
          <a:prstGeom prst="rect">
            <a:avLst/>
          </a:prstGeom>
          <a:noFill/>
        </p:spPr>
        <p:txBody>
          <a:bodyPr wrap="square" lIns="0" tIns="0" rIns="0" bIns="0" anchor="t">
            <a:spAutoFit/>
          </a:bodyPr>
          <a:lstStyle/>
          <a:p>
            <a:r>
              <a:rPr sz="1500" b="0" i="0">
                <a:solidFill>
                  <a:srgbClr val="263040"/>
                </a:solidFill>
                <a:latin typeface="Calibri"/>
              </a:rPr>
              <a:t>Objective: To replace a NULL value with a meaningful message.</a:t>
            </a:r>
          </a:p>
        </p:txBody>
      </p:sp>
      <p:sp>
        <p:nvSpPr>
          <p:cNvPr id="7" name="Code box"/>
          <p:cNvSpPr/>
          <p:nvPr/>
        </p:nvSpPr>
        <p:spPr>
          <a:xfrm>
            <a:off x="548640" y="1823466"/>
            <a:ext cx="5257800" cy="1700656"/>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42337"/>
            <a:ext cx="4983480" cy="1517777"/>
          </a:xfrm>
          <a:prstGeom prst="rect">
            <a:avLst/>
          </a:prstGeom>
          <a:noFill/>
        </p:spPr>
        <p:txBody>
          <a:bodyPr wrap="square" lIns="0" tIns="0" rIns="0" bIns="0" anchor="t">
            <a:spAutoFit/>
          </a:bodyPr>
          <a:lstStyle/>
          <a:p>
            <a:r>
              <a:rPr sz="1300" b="0" i="0">
                <a:solidFill>
                  <a:srgbClr val="1E293B"/>
                </a:solidFill>
                <a:latin typeface="Consolas"/>
              </a:rPr>
              <a:t>SELECT</a:t>
            </a:r>
          </a:p>
          <a:p>
            <a:r>
              <a:rPr sz="1300" b="0" i="0">
                <a:solidFill>
                  <a:srgbClr val="1E293B"/>
                </a:solidFill>
                <a:latin typeface="Consolas"/>
              </a:rPr>
              <a:t>  external_reference_id,</a:t>
            </a:r>
          </a:p>
          <a:p>
            <a:r>
              <a:rPr sz="1300" b="0" i="0">
                <a:solidFill>
                  <a:srgbClr val="1E293B"/>
                </a:solidFill>
                <a:latin typeface="Consolas"/>
              </a:rPr>
              <a:t>    NVL(internal_transaction_ref, 'NOT LINKED') AS internal_reference,</a:t>
            </a:r>
          </a:p>
          <a:p>
            <a:r>
              <a:rPr sz="1300" b="0" i="0">
                <a:solidFill>
                  <a:srgbClr val="1E293B"/>
                </a:solidFill>
                <a:latin typeface="Consolas"/>
              </a:rPr>
              <a:t>  reported_amount,</a:t>
            </a:r>
          </a:p>
          <a:p>
            <a:r>
              <a:rPr sz="1300" b="0" i="0">
                <a:solidFill>
                  <a:srgbClr val="1E293B"/>
                </a:solidFill>
                <a:latin typeface="Consolas"/>
              </a:rPr>
              <a:t>  reported_status</a:t>
            </a:r>
          </a:p>
          <a:p>
            <a:r>
              <a:rPr sz="1300" b="0" i="0">
                <a:solidFill>
                  <a:srgbClr val="1E293B"/>
                </a:solidFill>
                <a:latin typeface="Consolas"/>
              </a:rPr>
              <a:t>FROM EXTERNAL_TRANSACTIONS;</a:t>
            </a:r>
          </a:p>
        </p:txBody>
      </p:sp>
      <p:pic>
        <p:nvPicPr>
          <p:cNvPr id="9" name="Screenshot" descr="image.png"/>
          <p:cNvPicPr>
            <a:picLocks noChangeAspect="1"/>
          </p:cNvPicPr>
          <p:nvPr/>
        </p:nvPicPr>
        <p:blipFill>
          <a:blip r:embed="rId2"/>
          <a:stretch>
            <a:fillRect/>
          </a:stretch>
        </p:blipFill>
        <p:spPr>
          <a:xfrm>
            <a:off x="6172200" y="1481328"/>
            <a:ext cx="5470855" cy="177570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6. SINGLE-ROW SQL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3. TO_CHAR</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37</a:t>
            </a:r>
          </a:p>
        </p:txBody>
      </p:sp>
      <p:sp>
        <p:nvSpPr>
          <p:cNvPr id="6" name="TextBox 5"/>
          <p:cNvSpPr txBox="1"/>
          <p:nvPr/>
        </p:nvSpPr>
        <p:spPr>
          <a:xfrm>
            <a:off x="548640" y="1481328"/>
            <a:ext cx="5257800" cy="250698"/>
          </a:xfrm>
          <a:prstGeom prst="rect">
            <a:avLst/>
          </a:prstGeom>
          <a:noFill/>
        </p:spPr>
        <p:txBody>
          <a:bodyPr wrap="square" lIns="0" tIns="0" rIns="0" bIns="0" anchor="t">
            <a:spAutoFit/>
          </a:bodyPr>
          <a:lstStyle/>
          <a:p>
            <a:r>
              <a:rPr sz="1500" b="0" i="0">
                <a:solidFill>
                  <a:srgbClr val="263040"/>
                </a:solidFill>
                <a:latin typeface="Calibri"/>
              </a:rPr>
              <a:t>Objective: To display transaction timestamps in a readable format.</a:t>
            </a:r>
          </a:p>
        </p:txBody>
      </p:sp>
      <p:sp>
        <p:nvSpPr>
          <p:cNvPr id="7" name="Code box"/>
          <p:cNvSpPr/>
          <p:nvPr/>
        </p:nvSpPr>
        <p:spPr>
          <a:xfrm>
            <a:off x="548640" y="1823466"/>
            <a:ext cx="5257800" cy="149428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42337"/>
            <a:ext cx="4983480" cy="1311402"/>
          </a:xfrm>
          <a:prstGeom prst="rect">
            <a:avLst/>
          </a:prstGeom>
          <a:noFill/>
        </p:spPr>
        <p:txBody>
          <a:bodyPr wrap="square" lIns="0" tIns="0" rIns="0" bIns="0" anchor="t">
            <a:spAutoFit/>
          </a:bodyPr>
          <a:lstStyle/>
          <a:p>
            <a:r>
              <a:rPr sz="1300" b="0" i="0">
                <a:solidFill>
                  <a:srgbClr val="1E293B"/>
                </a:solidFill>
                <a:latin typeface="Consolas"/>
              </a:rPr>
              <a:t>SELECT</a:t>
            </a:r>
          </a:p>
          <a:p>
            <a:r>
              <a:rPr sz="1300" b="0" i="0">
                <a:solidFill>
                  <a:srgbClr val="1E293B"/>
                </a:solidFill>
                <a:latin typeface="Consolas"/>
              </a:rPr>
              <a:t>  transaction_ref, TO_CHAR(</a:t>
            </a:r>
          </a:p>
          <a:p>
            <a:r>
              <a:rPr sz="1300" b="0" i="0">
                <a:solidFill>
                  <a:srgbClr val="1E293B"/>
                </a:solidFill>
                <a:latin typeface="Consolas"/>
              </a:rPr>
              <a:t>    initiated_at,</a:t>
            </a:r>
          </a:p>
          <a:p>
            <a:r>
              <a:rPr sz="1300" b="0" i="0">
                <a:solidFill>
                  <a:srgbClr val="1E293B"/>
                </a:solidFill>
                <a:latin typeface="Consolas"/>
              </a:rPr>
              <a:t>    'DD-MON-YYYY HH24:MI:SS'</a:t>
            </a:r>
          </a:p>
          <a:p>
            <a:r>
              <a:rPr sz="1300" b="0" i="0">
                <a:solidFill>
                  <a:srgbClr val="1E293B"/>
                </a:solidFill>
                <a:latin typeface="Consolas"/>
              </a:rPr>
              <a:t>  ) AS formatted_timestamp</a:t>
            </a:r>
          </a:p>
          <a:p>
            <a:r>
              <a:rPr sz="1300" b="0" i="0">
                <a:solidFill>
                  <a:srgbClr val="1E293B"/>
                </a:solidFill>
                <a:latin typeface="Consolas"/>
              </a:rPr>
              <a:t>FROM PAYMENT_TRANSACTIONS;</a:t>
            </a:r>
          </a:p>
        </p:txBody>
      </p:sp>
      <p:pic>
        <p:nvPicPr>
          <p:cNvPr id="9" name="Screenshot" descr="image.png"/>
          <p:cNvPicPr>
            <a:picLocks noChangeAspect="1"/>
          </p:cNvPicPr>
          <p:nvPr/>
        </p:nvPicPr>
        <p:blipFill>
          <a:blip r:embed="rId2"/>
          <a:stretch>
            <a:fillRect/>
          </a:stretch>
        </p:blipFill>
        <p:spPr>
          <a:xfrm>
            <a:off x="6172200" y="1481328"/>
            <a:ext cx="5470855" cy="165052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7. SQL Operators and Group Functions</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38</a:t>
            </a:r>
          </a:p>
        </p:txBody>
      </p:sp>
      <p:sp>
        <p:nvSpPr>
          <p:cNvPr id="5" name="TextBox 4"/>
          <p:cNvSpPr txBox="1"/>
          <p:nvPr/>
        </p:nvSpPr>
        <p:spPr>
          <a:xfrm>
            <a:off x="548640" y="1481328"/>
            <a:ext cx="5257800" cy="354837"/>
          </a:xfrm>
          <a:prstGeom prst="rect">
            <a:avLst/>
          </a:prstGeom>
          <a:noFill/>
        </p:spPr>
        <p:txBody>
          <a:bodyPr wrap="square" lIns="0" tIns="0" rIns="0" bIns="0" anchor="t">
            <a:spAutoFit/>
          </a:bodyPr>
          <a:lstStyle/>
          <a:p>
            <a:r>
              <a:rPr sz="1700" b="1" i="0">
                <a:solidFill>
                  <a:srgbClr val="14233F"/>
                </a:solidFill>
                <a:latin typeface="Calibri"/>
              </a:rPr>
              <a:t>Objective</a:t>
            </a:r>
          </a:p>
        </p:txBody>
      </p:sp>
      <p:sp>
        <p:nvSpPr>
          <p:cNvPr id="6" name="TextBox 5"/>
          <p:cNvSpPr txBox="1"/>
          <p:nvPr/>
        </p:nvSpPr>
        <p:spPr>
          <a:xfrm>
            <a:off x="548640" y="1836166"/>
            <a:ext cx="5257800" cy="715518"/>
          </a:xfrm>
          <a:prstGeom prst="rect">
            <a:avLst/>
          </a:prstGeom>
          <a:noFill/>
        </p:spPr>
        <p:txBody>
          <a:bodyPr wrap="square" lIns="0" tIns="0" rIns="0" bIns="0" anchor="t">
            <a:spAutoFit/>
          </a:bodyPr>
          <a:lstStyle/>
          <a:p>
            <a:r>
              <a:rPr sz="1500" b="0" i="0">
                <a:solidFill>
                  <a:srgbClr val="263040"/>
                </a:solidFill>
                <a:latin typeface="Calibri"/>
              </a:rPr>
              <a:t>To demonstrate SQL operators for filtering and calculating payment transaction data, and group functions for summarizing transactions and ledger entries.</a:t>
            </a:r>
          </a:p>
        </p:txBody>
      </p:sp>
      <p:sp>
        <p:nvSpPr>
          <p:cNvPr id="7" name="TextBox 6"/>
          <p:cNvSpPr txBox="1"/>
          <p:nvPr/>
        </p:nvSpPr>
        <p:spPr>
          <a:xfrm>
            <a:off x="548640" y="2643124"/>
            <a:ext cx="5257800" cy="354837"/>
          </a:xfrm>
          <a:prstGeom prst="rect">
            <a:avLst/>
          </a:prstGeom>
          <a:noFill/>
        </p:spPr>
        <p:txBody>
          <a:bodyPr wrap="square" lIns="0" tIns="0" rIns="0" bIns="0" anchor="t">
            <a:spAutoFit/>
          </a:bodyPr>
          <a:lstStyle/>
          <a:p>
            <a:r>
              <a:rPr sz="1700" b="1" i="0">
                <a:solidFill>
                  <a:srgbClr val="14233F"/>
                </a:solidFill>
                <a:latin typeface="Calibri"/>
              </a:rPr>
              <a:t>SQL Operators</a:t>
            </a:r>
          </a:p>
        </p:txBody>
      </p:sp>
      <p:sp>
        <p:nvSpPr>
          <p:cNvPr id="8" name="TextBox 7"/>
          <p:cNvSpPr txBox="1"/>
          <p:nvPr/>
        </p:nvSpPr>
        <p:spPr>
          <a:xfrm>
            <a:off x="548640" y="2997961"/>
            <a:ext cx="5257800" cy="483108"/>
          </a:xfrm>
          <a:prstGeom prst="rect">
            <a:avLst/>
          </a:prstGeom>
          <a:noFill/>
        </p:spPr>
        <p:txBody>
          <a:bodyPr wrap="square" lIns="0" tIns="0" rIns="0" bIns="0" anchor="t">
            <a:spAutoFit/>
          </a:bodyPr>
          <a:lstStyle/>
          <a:p>
            <a:r>
              <a:rPr sz="1500" b="0" i="0">
                <a:solidFill>
                  <a:srgbClr val="263040"/>
                </a:solidFill>
                <a:latin typeface="Calibri"/>
              </a:rPr>
              <a:t>SQL operators help perform calculations, compare values, combine conditions, and filter records.</a:t>
            </a:r>
          </a:p>
        </p:txBody>
      </p:sp>
      <p:sp>
        <p:nvSpPr>
          <p:cNvPr id="9" name="TextBox 8"/>
          <p:cNvSpPr txBox="1"/>
          <p:nvPr/>
        </p:nvSpPr>
        <p:spPr>
          <a:xfrm>
            <a:off x="548640" y="3572509"/>
            <a:ext cx="5257800" cy="354837"/>
          </a:xfrm>
          <a:prstGeom prst="rect">
            <a:avLst/>
          </a:prstGeom>
          <a:noFill/>
        </p:spPr>
        <p:txBody>
          <a:bodyPr wrap="square" lIns="0" tIns="0" rIns="0" bIns="0" anchor="t">
            <a:spAutoFit/>
          </a:bodyPr>
          <a:lstStyle/>
          <a:p>
            <a:r>
              <a:rPr sz="1700" b="1" i="0">
                <a:solidFill>
                  <a:srgbClr val="14233F"/>
                </a:solidFill>
                <a:latin typeface="Calibri"/>
              </a:rPr>
              <a:t>Arithmetic operator</a:t>
            </a:r>
          </a:p>
        </p:txBody>
      </p:sp>
      <p:sp>
        <p:nvSpPr>
          <p:cNvPr id="10" name="TextBox 9"/>
          <p:cNvSpPr txBox="1"/>
          <p:nvPr/>
        </p:nvSpPr>
        <p:spPr>
          <a:xfrm>
            <a:off x="548640" y="3927348"/>
            <a:ext cx="5257800" cy="483108"/>
          </a:xfrm>
          <a:prstGeom prst="rect">
            <a:avLst/>
          </a:prstGeom>
          <a:noFill/>
        </p:spPr>
        <p:txBody>
          <a:bodyPr wrap="square" lIns="0" tIns="0" rIns="0" bIns="0" anchor="t">
            <a:spAutoFit/>
          </a:bodyPr>
          <a:lstStyle/>
          <a:p>
            <a:r>
              <a:rPr sz="1500" b="0" i="0">
                <a:solidFill>
                  <a:srgbClr val="263040"/>
                </a:solidFill>
                <a:latin typeface="Calibri"/>
              </a:rPr>
              <a:t>Purpose: Calculate the total transaction amount, including the transaction fee.</a:t>
            </a:r>
          </a:p>
        </p:txBody>
      </p:sp>
      <p:sp>
        <p:nvSpPr>
          <p:cNvPr id="11" name="Code box"/>
          <p:cNvSpPr/>
          <p:nvPr/>
        </p:nvSpPr>
        <p:spPr>
          <a:xfrm>
            <a:off x="548640" y="4501896"/>
            <a:ext cx="5257800" cy="87515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4620767"/>
            <a:ext cx="4983480" cy="692277"/>
          </a:xfrm>
          <a:prstGeom prst="rect">
            <a:avLst/>
          </a:prstGeom>
          <a:noFill/>
        </p:spPr>
        <p:txBody>
          <a:bodyPr wrap="square" lIns="0" tIns="0" rIns="0" bIns="0" anchor="t">
            <a:spAutoFit/>
          </a:bodyPr>
          <a:lstStyle/>
          <a:p>
            <a:r>
              <a:rPr sz="1300" b="0" i="0">
                <a:solidFill>
                  <a:srgbClr val="1E293B"/>
                </a:solidFill>
                <a:latin typeface="Consolas"/>
              </a:rPr>
              <a:t>SELECT transaction_ref, amount, fee_amount, amount + fee_amount AS total_amount FROM PAYMENT_TRANSACTIONS;</a:t>
            </a:r>
          </a:p>
        </p:txBody>
      </p:sp>
      <p:sp>
        <p:nvSpPr>
          <p:cNvPr id="13" name="TextBox 12"/>
          <p:cNvSpPr txBox="1"/>
          <p:nvPr/>
        </p:nvSpPr>
        <p:spPr>
          <a:xfrm>
            <a:off x="548640" y="5486781"/>
            <a:ext cx="5257800" cy="483108"/>
          </a:xfrm>
          <a:prstGeom prst="rect">
            <a:avLst/>
          </a:prstGeom>
          <a:noFill/>
        </p:spPr>
        <p:txBody>
          <a:bodyPr wrap="square" lIns="0" tIns="0" rIns="0" bIns="0" anchor="t">
            <a:spAutoFit/>
          </a:bodyPr>
          <a:lstStyle/>
          <a:p>
            <a:r>
              <a:rPr sz="1500" b="0" i="0">
                <a:solidFill>
                  <a:srgbClr val="263040"/>
                </a:solidFill>
                <a:latin typeface="Calibri"/>
              </a:rPr>
              <a:t>Explanation: The + operator calculates the transaction amount plus its fee.</a:t>
            </a:r>
          </a:p>
        </p:txBody>
      </p:sp>
      <p:sp>
        <p:nvSpPr>
          <p:cNvPr id="14" name="TextBox 13"/>
          <p:cNvSpPr txBox="1"/>
          <p:nvPr/>
        </p:nvSpPr>
        <p:spPr>
          <a:xfrm>
            <a:off x="6172200" y="1481328"/>
            <a:ext cx="5470855" cy="251333"/>
          </a:xfrm>
          <a:prstGeom prst="rect">
            <a:avLst/>
          </a:prstGeom>
          <a:noFill/>
        </p:spPr>
        <p:txBody>
          <a:bodyPr wrap="square" lIns="0" tIns="0" rIns="0" bIns="0" anchor="t">
            <a:spAutoFit/>
          </a:bodyPr>
          <a:lstStyle/>
          <a:p>
            <a:r>
              <a:rPr sz="1150" b="1" i="0">
                <a:solidFill>
                  <a:srgbClr val="6B7585"/>
                </a:solidFill>
                <a:latin typeface="Calibri"/>
              </a:rPr>
              <a:t>Sample SQL*Plus output — Arithmetic operator</a:t>
            </a:r>
          </a:p>
        </p:txBody>
      </p:sp>
      <p:pic>
        <p:nvPicPr>
          <p:cNvPr id="15" name="Screenshot" descr="image.png"/>
          <p:cNvPicPr>
            <a:picLocks noChangeAspect="1"/>
          </p:cNvPicPr>
          <p:nvPr/>
        </p:nvPicPr>
        <p:blipFill>
          <a:blip r:embed="rId2"/>
          <a:stretch>
            <a:fillRect/>
          </a:stretch>
        </p:blipFill>
        <p:spPr>
          <a:xfrm>
            <a:off x="6172200" y="1732661"/>
            <a:ext cx="5470855" cy="165052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7. SQL OPERATORS AND GROUP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B. Comparison and logical operators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39</a:t>
            </a:r>
          </a:p>
        </p:txBody>
      </p:sp>
      <p:sp>
        <p:nvSpPr>
          <p:cNvPr id="6" name="TextBox 5"/>
          <p:cNvSpPr txBox="1"/>
          <p:nvPr/>
        </p:nvSpPr>
        <p:spPr>
          <a:xfrm>
            <a:off x="548640" y="1481328"/>
            <a:ext cx="5257800" cy="250698"/>
          </a:xfrm>
          <a:prstGeom prst="rect">
            <a:avLst/>
          </a:prstGeom>
          <a:noFill/>
        </p:spPr>
        <p:txBody>
          <a:bodyPr wrap="square" lIns="0" tIns="0" rIns="0" bIns="0" anchor="t">
            <a:spAutoFit/>
          </a:bodyPr>
          <a:lstStyle/>
          <a:p>
            <a:r>
              <a:rPr sz="1500" b="0" i="0">
                <a:solidFill>
                  <a:srgbClr val="263040"/>
                </a:solidFill>
                <a:latin typeface="Calibri"/>
              </a:rPr>
              <a:t>Purpose: Filter successful transactions above a specified amount.</a:t>
            </a:r>
          </a:p>
        </p:txBody>
      </p:sp>
      <p:sp>
        <p:nvSpPr>
          <p:cNvPr id="7" name="Code box"/>
          <p:cNvSpPr/>
          <p:nvPr/>
        </p:nvSpPr>
        <p:spPr>
          <a:xfrm>
            <a:off x="548640" y="1823466"/>
            <a:ext cx="5257800" cy="87515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42337"/>
            <a:ext cx="4983480" cy="692277"/>
          </a:xfrm>
          <a:prstGeom prst="rect">
            <a:avLst/>
          </a:prstGeom>
          <a:noFill/>
        </p:spPr>
        <p:txBody>
          <a:bodyPr wrap="square" lIns="0" tIns="0" rIns="0" bIns="0" anchor="t">
            <a:spAutoFit/>
          </a:bodyPr>
          <a:lstStyle/>
          <a:p>
            <a:r>
              <a:rPr sz="1300" b="0" i="0">
                <a:solidFill>
                  <a:srgbClr val="1E293B"/>
                </a:solidFill>
                <a:latin typeface="Consolas"/>
              </a:rPr>
              <a:t>SELECT transaction_ref, amount, status FROM PAYMENT_TRANSACTIONS</a:t>
            </a:r>
          </a:p>
          <a:p>
            <a:r>
              <a:rPr sz="1300" b="0" i="0">
                <a:solidFill>
                  <a:srgbClr val="1E293B"/>
                </a:solidFill>
                <a:latin typeface="Consolas"/>
              </a:rPr>
              <a:t>WHERE status = 'SUCCESS' AND amount &gt; 1000;</a:t>
            </a:r>
          </a:p>
        </p:txBody>
      </p:sp>
      <p:sp>
        <p:nvSpPr>
          <p:cNvPr id="9" name="TextBox 8"/>
          <p:cNvSpPr txBox="1"/>
          <p:nvPr/>
        </p:nvSpPr>
        <p:spPr>
          <a:xfrm>
            <a:off x="548640" y="2808351"/>
            <a:ext cx="5257800" cy="483108"/>
          </a:xfrm>
          <a:prstGeom prst="rect">
            <a:avLst/>
          </a:prstGeom>
          <a:noFill/>
        </p:spPr>
        <p:txBody>
          <a:bodyPr wrap="square" lIns="0" tIns="0" rIns="0" bIns="0" anchor="t">
            <a:spAutoFit/>
          </a:bodyPr>
          <a:lstStyle/>
          <a:p>
            <a:r>
              <a:rPr sz="1500" b="0" i="0">
                <a:solidFill>
                  <a:srgbClr val="263040"/>
                </a:solidFill>
                <a:latin typeface="Calibri"/>
              </a:rPr>
              <a:t>Explanation: = compares values, &gt; compares the amount, and AND requires both conditions to be true.</a:t>
            </a:r>
          </a:p>
        </p:txBody>
      </p:sp>
      <p:sp>
        <p:nvSpPr>
          <p:cNvPr id="10" name="TextBox 9"/>
          <p:cNvSpPr txBox="1"/>
          <p:nvPr/>
        </p:nvSpPr>
        <p:spPr>
          <a:xfrm>
            <a:off x="6172200" y="1481328"/>
            <a:ext cx="5470855" cy="251333"/>
          </a:xfrm>
          <a:prstGeom prst="rect">
            <a:avLst/>
          </a:prstGeom>
          <a:noFill/>
        </p:spPr>
        <p:txBody>
          <a:bodyPr wrap="square" lIns="0" tIns="0" rIns="0" bIns="0" anchor="t">
            <a:spAutoFit/>
          </a:bodyPr>
          <a:lstStyle/>
          <a:p>
            <a:r>
              <a:rPr sz="1150" b="1" i="0">
                <a:solidFill>
                  <a:srgbClr val="6B7585"/>
                </a:solidFill>
                <a:latin typeface="Calibri"/>
              </a:rPr>
              <a:t>Comparison and logical operators</a:t>
            </a:r>
          </a:p>
        </p:txBody>
      </p:sp>
      <p:pic>
        <p:nvPicPr>
          <p:cNvPr id="11" name="Screenshot" descr="image.png"/>
          <p:cNvPicPr>
            <a:picLocks noChangeAspect="1"/>
          </p:cNvPicPr>
          <p:nvPr/>
        </p:nvPicPr>
        <p:blipFill>
          <a:blip r:embed="rId2"/>
          <a:stretch>
            <a:fillRect/>
          </a:stretch>
        </p:blipFill>
        <p:spPr>
          <a:xfrm>
            <a:off x="6172200" y="1732661"/>
            <a:ext cx="5470855" cy="152534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7. SQL OPERATORS AND GROUP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C. IN and BETWEEN operators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40</a:t>
            </a:r>
          </a:p>
        </p:txBody>
      </p:sp>
      <p:sp>
        <p:nvSpPr>
          <p:cNvPr id="6" name="TextBox 5"/>
          <p:cNvSpPr txBox="1"/>
          <p:nvPr/>
        </p:nvSpPr>
        <p:spPr>
          <a:xfrm>
            <a:off x="548640" y="1481328"/>
            <a:ext cx="5257800" cy="483108"/>
          </a:xfrm>
          <a:prstGeom prst="rect">
            <a:avLst/>
          </a:prstGeom>
          <a:noFill/>
        </p:spPr>
        <p:txBody>
          <a:bodyPr wrap="square" lIns="0" tIns="0" rIns="0" bIns="0" anchor="t">
            <a:spAutoFit/>
          </a:bodyPr>
          <a:lstStyle/>
          <a:p>
            <a:r>
              <a:rPr sz="1500" b="0" i="0">
                <a:solidFill>
                  <a:srgbClr val="263040"/>
                </a:solidFill>
                <a:latin typeface="Calibri"/>
              </a:rPr>
              <a:t>Purpose: Find transactions in selected states and within an amount range.</a:t>
            </a:r>
          </a:p>
        </p:txBody>
      </p:sp>
      <p:sp>
        <p:nvSpPr>
          <p:cNvPr id="7" name="Code box"/>
          <p:cNvSpPr/>
          <p:nvPr/>
        </p:nvSpPr>
        <p:spPr>
          <a:xfrm>
            <a:off x="548640" y="2055876"/>
            <a:ext cx="5257800" cy="1081532"/>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74748"/>
            <a:ext cx="4983480" cy="898652"/>
          </a:xfrm>
          <a:prstGeom prst="rect">
            <a:avLst/>
          </a:prstGeom>
          <a:noFill/>
        </p:spPr>
        <p:txBody>
          <a:bodyPr wrap="square" lIns="0" tIns="0" rIns="0" bIns="0" anchor="t">
            <a:spAutoFit/>
          </a:bodyPr>
          <a:lstStyle/>
          <a:p>
            <a:r>
              <a:rPr sz="1300" b="0" i="0">
                <a:solidFill>
                  <a:srgbClr val="1E293B"/>
                </a:solidFill>
                <a:latin typeface="Consolas"/>
              </a:rPr>
              <a:t>SELECT transaction_ref, amount, status FROM PAYMENT_TRANSACTIONS</a:t>
            </a:r>
          </a:p>
          <a:p>
            <a:r>
              <a:rPr sz="1300" b="0" i="0">
                <a:solidFill>
                  <a:srgbClr val="1E293B"/>
                </a:solidFill>
                <a:latin typeface="Consolas"/>
              </a:rPr>
              <a:t>  WHERE status IN ('SUCCESS', 'PROCESSING') AND amount BETWEEN 500 AND 5000;</a:t>
            </a:r>
          </a:p>
        </p:txBody>
      </p:sp>
      <p:sp>
        <p:nvSpPr>
          <p:cNvPr id="9" name="TextBox 8"/>
          <p:cNvSpPr txBox="1"/>
          <p:nvPr/>
        </p:nvSpPr>
        <p:spPr>
          <a:xfrm>
            <a:off x="548640" y="3247136"/>
            <a:ext cx="5257800" cy="483108"/>
          </a:xfrm>
          <a:prstGeom prst="rect">
            <a:avLst/>
          </a:prstGeom>
          <a:noFill/>
        </p:spPr>
        <p:txBody>
          <a:bodyPr wrap="square" lIns="0" tIns="0" rIns="0" bIns="0" anchor="t">
            <a:spAutoFit/>
          </a:bodyPr>
          <a:lstStyle/>
          <a:p>
            <a:r>
              <a:rPr sz="1500" b="0" i="0">
                <a:solidFill>
                  <a:srgbClr val="263040"/>
                </a:solidFill>
                <a:latin typeface="Calibri"/>
              </a:rPr>
              <a:t>Explanation: IN checks membership in a list; BETWEEN includes both range endpoints.</a:t>
            </a:r>
          </a:p>
        </p:txBody>
      </p:sp>
      <p:sp>
        <p:nvSpPr>
          <p:cNvPr id="10" name="TextBox 9"/>
          <p:cNvSpPr txBox="1"/>
          <p:nvPr/>
        </p:nvSpPr>
        <p:spPr>
          <a:xfrm>
            <a:off x="6172200" y="1481328"/>
            <a:ext cx="5470855" cy="251333"/>
          </a:xfrm>
          <a:prstGeom prst="rect">
            <a:avLst/>
          </a:prstGeom>
          <a:noFill/>
        </p:spPr>
        <p:txBody>
          <a:bodyPr wrap="square" lIns="0" tIns="0" rIns="0" bIns="0" anchor="t">
            <a:spAutoFit/>
          </a:bodyPr>
          <a:lstStyle/>
          <a:p>
            <a:r>
              <a:rPr sz="1150" b="1" i="0">
                <a:solidFill>
                  <a:srgbClr val="6B7585"/>
                </a:solidFill>
                <a:latin typeface="Calibri"/>
              </a:rPr>
              <a:t>IN and BETWEEN</a:t>
            </a:r>
          </a:p>
        </p:txBody>
      </p:sp>
      <p:pic>
        <p:nvPicPr>
          <p:cNvPr id="11" name="Screenshot" descr="image.jpg"/>
          <p:cNvPicPr>
            <a:picLocks noChangeAspect="1"/>
          </p:cNvPicPr>
          <p:nvPr/>
        </p:nvPicPr>
        <p:blipFill>
          <a:blip r:embed="rId2"/>
          <a:stretch>
            <a:fillRect/>
          </a:stretch>
        </p:blipFill>
        <p:spPr>
          <a:xfrm>
            <a:off x="6172200" y="1732661"/>
            <a:ext cx="5470855" cy="177570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7. SQL OPERATORS AND GROUP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Group Functions (Aggregate Functions)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41</a:t>
            </a:r>
          </a:p>
        </p:txBody>
      </p:sp>
      <p:sp>
        <p:nvSpPr>
          <p:cNvPr id="6" name="TextBox 5"/>
          <p:cNvSpPr txBox="1"/>
          <p:nvPr/>
        </p:nvSpPr>
        <p:spPr>
          <a:xfrm>
            <a:off x="548640" y="1481328"/>
            <a:ext cx="5364327" cy="483108"/>
          </a:xfrm>
          <a:prstGeom prst="rect">
            <a:avLst/>
          </a:prstGeom>
          <a:noFill/>
        </p:spPr>
        <p:txBody>
          <a:bodyPr wrap="square" lIns="0" tIns="0" rIns="0" bIns="0" anchor="t">
            <a:spAutoFit/>
          </a:bodyPr>
          <a:lstStyle/>
          <a:p>
            <a:r>
              <a:rPr sz="1500" b="0" i="0">
                <a:solidFill>
                  <a:srgbClr val="263040"/>
                </a:solidFill>
                <a:latin typeface="Calibri"/>
              </a:rPr>
              <a:t>Group functions calculate one summary value from multiple rows. The following queries use the payment transaction data.</a:t>
            </a:r>
          </a:p>
        </p:txBody>
      </p:sp>
      <p:sp>
        <p:nvSpPr>
          <p:cNvPr id="7" name="TextBox 6"/>
          <p:cNvSpPr txBox="1"/>
          <p:nvPr/>
        </p:nvSpPr>
        <p:spPr>
          <a:xfrm>
            <a:off x="548640" y="2055876"/>
            <a:ext cx="5364327" cy="354837"/>
          </a:xfrm>
          <a:prstGeom prst="rect">
            <a:avLst/>
          </a:prstGeom>
          <a:noFill/>
        </p:spPr>
        <p:txBody>
          <a:bodyPr wrap="square" lIns="0" tIns="0" rIns="0" bIns="0" anchor="t">
            <a:spAutoFit/>
          </a:bodyPr>
          <a:lstStyle/>
          <a:p>
            <a:r>
              <a:rPr sz="1700" b="1" i="0">
                <a:solidFill>
                  <a:srgbClr val="14233F"/>
                </a:solidFill>
                <a:latin typeface="Calibri"/>
              </a:rPr>
              <a:t>COUNT() — Count transactions</a:t>
            </a:r>
          </a:p>
        </p:txBody>
      </p:sp>
      <p:sp>
        <p:nvSpPr>
          <p:cNvPr id="8" name="Code box"/>
          <p:cNvSpPr/>
          <p:nvPr/>
        </p:nvSpPr>
        <p:spPr>
          <a:xfrm>
            <a:off x="548640" y="2410714"/>
            <a:ext cx="5364327" cy="65290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529586"/>
            <a:ext cx="5090007" cy="470027"/>
          </a:xfrm>
          <a:prstGeom prst="rect">
            <a:avLst/>
          </a:prstGeom>
          <a:noFill/>
        </p:spPr>
        <p:txBody>
          <a:bodyPr wrap="square" lIns="0" tIns="0" rIns="0" bIns="0" anchor="t">
            <a:spAutoFit/>
          </a:bodyPr>
          <a:lstStyle/>
          <a:p>
            <a:r>
              <a:rPr sz="1250" b="0" i="0">
                <a:solidFill>
                  <a:srgbClr val="1E293B"/>
                </a:solidFill>
                <a:latin typeface="Consolas"/>
              </a:rPr>
              <a:t>SELECT COUNT(*) AS transaction_count FROM PAYMENT_TRANSACTIONS;</a:t>
            </a:r>
          </a:p>
        </p:txBody>
      </p:sp>
      <p:sp>
        <p:nvSpPr>
          <p:cNvPr id="10" name="TextBox 9"/>
          <p:cNvSpPr txBox="1"/>
          <p:nvPr/>
        </p:nvSpPr>
        <p:spPr>
          <a:xfrm>
            <a:off x="6278727" y="1481328"/>
            <a:ext cx="5364327" cy="354837"/>
          </a:xfrm>
          <a:prstGeom prst="rect">
            <a:avLst/>
          </a:prstGeom>
          <a:noFill/>
        </p:spPr>
        <p:txBody>
          <a:bodyPr wrap="square" lIns="0" tIns="0" rIns="0" bIns="0" anchor="t">
            <a:spAutoFit/>
          </a:bodyPr>
          <a:lstStyle/>
          <a:p>
            <a:r>
              <a:rPr sz="1700" b="1" i="0">
                <a:solidFill>
                  <a:srgbClr val="14233F"/>
                </a:solidFill>
                <a:latin typeface="Calibri"/>
              </a:rPr>
              <a:t>SUM() — Total transaction value</a:t>
            </a:r>
          </a:p>
        </p:txBody>
      </p:sp>
      <p:sp>
        <p:nvSpPr>
          <p:cNvPr id="11" name="Code box"/>
          <p:cNvSpPr/>
          <p:nvPr/>
        </p:nvSpPr>
        <p:spPr>
          <a:xfrm>
            <a:off x="6278727" y="1836166"/>
            <a:ext cx="5364327" cy="65290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5887" y="1955037"/>
            <a:ext cx="5090007" cy="470027"/>
          </a:xfrm>
          <a:prstGeom prst="rect">
            <a:avLst/>
          </a:prstGeom>
          <a:noFill/>
        </p:spPr>
        <p:txBody>
          <a:bodyPr wrap="square" lIns="0" tIns="0" rIns="0" bIns="0" anchor="t">
            <a:spAutoFit/>
          </a:bodyPr>
          <a:lstStyle/>
          <a:p>
            <a:r>
              <a:rPr sz="1250" b="0" i="0">
                <a:solidFill>
                  <a:srgbClr val="1E293B"/>
                </a:solidFill>
                <a:latin typeface="Consolas"/>
              </a:rPr>
              <a:t>SELECT SUM(amount) AS total_transaction_amount FROM PAYMENT_TRANSACTIONS;</a:t>
            </a:r>
          </a:p>
        </p:txBody>
      </p:sp>
      <p:sp>
        <p:nvSpPr>
          <p:cNvPr id="13" name="TextBox 12"/>
          <p:cNvSpPr txBox="1"/>
          <p:nvPr/>
        </p:nvSpPr>
        <p:spPr>
          <a:xfrm>
            <a:off x="6278727" y="2598800"/>
            <a:ext cx="5364327" cy="354837"/>
          </a:xfrm>
          <a:prstGeom prst="rect">
            <a:avLst/>
          </a:prstGeom>
          <a:noFill/>
        </p:spPr>
        <p:txBody>
          <a:bodyPr wrap="square" lIns="0" tIns="0" rIns="0" bIns="0" anchor="t">
            <a:spAutoFit/>
          </a:bodyPr>
          <a:lstStyle/>
          <a:p>
            <a:r>
              <a:rPr sz="1700" b="1" i="0">
                <a:solidFill>
                  <a:srgbClr val="14233F"/>
                </a:solidFill>
                <a:latin typeface="Calibri"/>
              </a:rPr>
              <a:t>AVG() — Average transaction value</a:t>
            </a:r>
          </a:p>
        </p:txBody>
      </p:sp>
      <p:sp>
        <p:nvSpPr>
          <p:cNvPr id="14" name="Code box"/>
          <p:cNvSpPr/>
          <p:nvPr/>
        </p:nvSpPr>
        <p:spPr>
          <a:xfrm>
            <a:off x="6278727" y="2953638"/>
            <a:ext cx="5364327" cy="65290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5887" y="3072510"/>
            <a:ext cx="5090007" cy="470027"/>
          </a:xfrm>
          <a:prstGeom prst="rect">
            <a:avLst/>
          </a:prstGeom>
          <a:noFill/>
        </p:spPr>
        <p:txBody>
          <a:bodyPr wrap="square" lIns="0" tIns="0" rIns="0" bIns="0" anchor="t">
            <a:spAutoFit/>
          </a:bodyPr>
          <a:lstStyle/>
          <a:p>
            <a:r>
              <a:rPr sz="1250" b="0" i="0">
                <a:solidFill>
                  <a:srgbClr val="1E293B"/>
                </a:solidFill>
                <a:latin typeface="Consolas"/>
              </a:rPr>
              <a:t>SELECT AVG(amount) AS average_transaction_amount FROM PAYMENT_TRANSACTIONS;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7. SQL OPERATORS AND GROUP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400" b="1" i="0">
                <a:solidFill>
                  <a:srgbClr val="14233F"/>
                </a:solidFill>
                <a:latin typeface="Cambria"/>
              </a:rPr>
              <a:t>D. MIN() and MAX() — Smallest and largest transaction</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42</a:t>
            </a:r>
          </a:p>
        </p:txBody>
      </p:sp>
      <p:sp>
        <p:nvSpPr>
          <p:cNvPr id="6" name="Code box"/>
          <p:cNvSpPr/>
          <p:nvPr/>
        </p:nvSpPr>
        <p:spPr>
          <a:xfrm>
            <a:off x="548640" y="1481328"/>
            <a:ext cx="5257800" cy="87515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4983480" cy="692277"/>
          </a:xfrm>
          <a:prstGeom prst="rect">
            <a:avLst/>
          </a:prstGeom>
          <a:noFill/>
        </p:spPr>
        <p:txBody>
          <a:bodyPr wrap="square" lIns="0" tIns="0" rIns="0" bIns="0" anchor="t">
            <a:spAutoFit/>
          </a:bodyPr>
          <a:lstStyle/>
          <a:p>
            <a:r>
              <a:rPr sz="1300" b="0" i="0">
                <a:solidFill>
                  <a:srgbClr val="1E293B"/>
                </a:solidFill>
                <a:latin typeface="Consolas"/>
              </a:rPr>
              <a:t>      SELECT MIN(amount) AS minimum_amount, MAX(amount) AS maximum_amount</a:t>
            </a:r>
          </a:p>
          <a:p>
            <a:r>
              <a:rPr sz="1300" b="0" i="0">
                <a:solidFill>
                  <a:srgbClr val="1E293B"/>
                </a:solidFill>
                <a:latin typeface="Consolas"/>
              </a:rPr>
              <a:t>FROM PAYMENT_TRANSACTIONS;</a:t>
            </a:r>
          </a:p>
        </p:txBody>
      </p:sp>
      <p:sp>
        <p:nvSpPr>
          <p:cNvPr id="8" name="TextBox 7"/>
          <p:cNvSpPr txBox="1"/>
          <p:nvPr/>
        </p:nvSpPr>
        <p:spPr>
          <a:xfrm>
            <a:off x="6172200" y="1481328"/>
            <a:ext cx="5470855" cy="251333"/>
          </a:xfrm>
          <a:prstGeom prst="rect">
            <a:avLst/>
          </a:prstGeom>
          <a:noFill/>
        </p:spPr>
        <p:txBody>
          <a:bodyPr wrap="square" lIns="0" tIns="0" rIns="0" bIns="0" anchor="t">
            <a:spAutoFit/>
          </a:bodyPr>
          <a:lstStyle/>
          <a:p>
            <a:r>
              <a:rPr sz="1150" b="1" i="0">
                <a:solidFill>
                  <a:srgbClr val="6B7585"/>
                </a:solidFill>
                <a:latin typeface="Calibri"/>
              </a:rPr>
              <a:t>COUNT, SUM, AVG, MIN and MAX</a:t>
            </a:r>
          </a:p>
        </p:txBody>
      </p:sp>
      <p:pic>
        <p:nvPicPr>
          <p:cNvPr id="9" name="Screenshot" descr="image.png"/>
          <p:cNvPicPr>
            <a:picLocks noChangeAspect="1"/>
          </p:cNvPicPr>
          <p:nvPr/>
        </p:nvPicPr>
        <p:blipFill>
          <a:blip r:embed="rId2"/>
          <a:stretch>
            <a:fillRect/>
          </a:stretch>
        </p:blipFill>
        <p:spPr>
          <a:xfrm>
            <a:off x="6172200" y="1732661"/>
            <a:ext cx="5470855" cy="165052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7. SQL OPERATORS AND GROUP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E. GROUP BY — Summarize transactions by status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43</a:t>
            </a:r>
          </a:p>
        </p:txBody>
      </p:sp>
      <p:sp>
        <p:nvSpPr>
          <p:cNvPr id="6" name="Code box"/>
          <p:cNvSpPr/>
          <p:nvPr/>
        </p:nvSpPr>
        <p:spPr>
          <a:xfrm>
            <a:off x="548640" y="1481328"/>
            <a:ext cx="5257800" cy="87515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4983480" cy="692277"/>
          </a:xfrm>
          <a:prstGeom prst="rect">
            <a:avLst/>
          </a:prstGeom>
          <a:noFill/>
        </p:spPr>
        <p:txBody>
          <a:bodyPr wrap="square" lIns="0" tIns="0" rIns="0" bIns="0" anchor="t">
            <a:spAutoFit/>
          </a:bodyPr>
          <a:lstStyle/>
          <a:p>
            <a:r>
              <a:rPr sz="1300" b="0" i="0">
                <a:solidFill>
                  <a:srgbClr val="1E293B"/>
                </a:solidFill>
                <a:latin typeface="Consolas"/>
              </a:rPr>
              <a:t>SELECT status, COUNT(*) AS transaction_count, SUM(amount) AS total_amount FROM PAYMENT_TRANSACTIONS</a:t>
            </a:r>
          </a:p>
          <a:p>
            <a:r>
              <a:rPr sz="1300" b="0" i="0">
                <a:solidFill>
                  <a:srgbClr val="1E293B"/>
                </a:solidFill>
                <a:latin typeface="Consolas"/>
              </a:rPr>
              <a:t>GROUP BY status ORDER BY status;</a:t>
            </a:r>
          </a:p>
        </p:txBody>
      </p:sp>
      <p:sp>
        <p:nvSpPr>
          <p:cNvPr id="8" name="TextBox 7"/>
          <p:cNvSpPr txBox="1"/>
          <p:nvPr/>
        </p:nvSpPr>
        <p:spPr>
          <a:xfrm>
            <a:off x="6172200" y="1481328"/>
            <a:ext cx="5470855" cy="251333"/>
          </a:xfrm>
          <a:prstGeom prst="rect">
            <a:avLst/>
          </a:prstGeom>
          <a:noFill/>
        </p:spPr>
        <p:txBody>
          <a:bodyPr wrap="square" lIns="0" tIns="0" rIns="0" bIns="0" anchor="t">
            <a:spAutoFit/>
          </a:bodyPr>
          <a:lstStyle/>
          <a:p>
            <a:r>
              <a:rPr sz="1150" b="1" i="0">
                <a:solidFill>
                  <a:srgbClr val="6B7585"/>
                </a:solidFill>
                <a:latin typeface="Calibri"/>
              </a:rPr>
              <a:t>GROUP BY</a:t>
            </a:r>
          </a:p>
        </p:txBody>
      </p:sp>
      <p:pic>
        <p:nvPicPr>
          <p:cNvPr id="9" name="Screenshot" descr="image.png"/>
          <p:cNvPicPr>
            <a:picLocks noChangeAspect="1"/>
          </p:cNvPicPr>
          <p:nvPr/>
        </p:nvPicPr>
        <p:blipFill>
          <a:blip r:embed="rId2"/>
          <a:stretch>
            <a:fillRect/>
          </a:stretch>
        </p:blipFill>
        <p:spPr>
          <a:xfrm>
            <a:off x="6172200" y="1732661"/>
            <a:ext cx="5470855" cy="177570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548640" y="347472"/>
            <a:ext cx="11094415" cy="256032"/>
          </a:xfrm>
          <a:prstGeom prst="rect">
            <a:avLst/>
          </a:prstGeom>
          <a:noFill/>
        </p:spPr>
        <p:txBody>
          <a:bodyPr wrap="square" lIns="0" tIns="0" rIns="0" bIns="0" anchor="t">
            <a:spAutoFit/>
          </a:bodyPr>
          <a:lstStyle/>
          <a:p>
            <a:r>
              <a:rPr sz="1100" b="1" i="0">
                <a:solidFill>
                  <a:srgbClr val="0B7A75"/>
                </a:solidFill>
                <a:latin typeface="Calibri"/>
              </a:rPr>
              <a:t>7. SQL OPERATORS AND GROUP FUNCTIONS</a:t>
            </a:r>
          </a:p>
        </p:txBody>
      </p:sp>
      <p:sp>
        <p:nvSpPr>
          <p:cNvPr id="3"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F. HAVING — Filter grouped results</a:t>
            </a:r>
          </a:p>
        </p:txBody>
      </p:sp>
      <p:sp>
        <p:nvSpPr>
          <p:cNvPr id="4"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5"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44</a:t>
            </a:r>
          </a:p>
        </p:txBody>
      </p:sp>
      <p:sp>
        <p:nvSpPr>
          <p:cNvPr id="6" name="Code box"/>
          <p:cNvSpPr/>
          <p:nvPr/>
        </p:nvSpPr>
        <p:spPr>
          <a:xfrm>
            <a:off x="548640" y="1481328"/>
            <a:ext cx="5257800" cy="875157"/>
          </a:xfrm>
          <a:prstGeom prst="roundRect">
            <a:avLst>
              <a:gd name="adj" fmla="val 6000"/>
            </a:avLst>
          </a:prstGeom>
          <a:solidFill>
            <a:srgbClr val="F3F5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4983480" cy="692277"/>
          </a:xfrm>
          <a:prstGeom prst="rect">
            <a:avLst/>
          </a:prstGeom>
          <a:noFill/>
        </p:spPr>
        <p:txBody>
          <a:bodyPr wrap="square" lIns="0" tIns="0" rIns="0" bIns="0" anchor="t">
            <a:spAutoFit/>
          </a:bodyPr>
          <a:lstStyle/>
          <a:p>
            <a:r>
              <a:rPr sz="1300" b="0" i="0">
                <a:solidFill>
                  <a:srgbClr val="1E293B"/>
                </a:solidFill>
                <a:latin typeface="Consolas"/>
              </a:rPr>
              <a:t>SELECT status, COUNT(*) AS transaction_count FROM PAYMENT_TRANSACTIONS</a:t>
            </a:r>
          </a:p>
          <a:p>
            <a:r>
              <a:rPr sz="1300" b="0" i="0">
                <a:solidFill>
                  <a:srgbClr val="1E293B"/>
                </a:solidFill>
                <a:latin typeface="Consolas"/>
              </a:rPr>
              <a:t>GROUP BY status HAVING COUNT(*) &gt; 1;</a:t>
            </a:r>
          </a:p>
        </p:txBody>
      </p:sp>
      <p:sp>
        <p:nvSpPr>
          <p:cNvPr id="8" name="TextBox 7"/>
          <p:cNvSpPr txBox="1"/>
          <p:nvPr/>
        </p:nvSpPr>
        <p:spPr>
          <a:xfrm>
            <a:off x="6172200" y="1481328"/>
            <a:ext cx="5470855" cy="251333"/>
          </a:xfrm>
          <a:prstGeom prst="rect">
            <a:avLst/>
          </a:prstGeom>
          <a:noFill/>
        </p:spPr>
        <p:txBody>
          <a:bodyPr wrap="square" lIns="0" tIns="0" rIns="0" bIns="0" anchor="t">
            <a:spAutoFit/>
          </a:bodyPr>
          <a:lstStyle/>
          <a:p>
            <a:r>
              <a:rPr sz="1150" b="1" i="0">
                <a:solidFill>
                  <a:srgbClr val="6B7585"/>
                </a:solidFill>
                <a:latin typeface="Calibri"/>
              </a:rPr>
              <a:t>HAVING</a:t>
            </a:r>
          </a:p>
        </p:txBody>
      </p:sp>
      <p:pic>
        <p:nvPicPr>
          <p:cNvPr id="9" name="Screenshot" descr="image.png"/>
          <p:cNvPicPr>
            <a:picLocks noChangeAspect="1"/>
          </p:cNvPicPr>
          <p:nvPr/>
        </p:nvPicPr>
        <p:blipFill>
          <a:blip r:embed="rId2"/>
          <a:stretch>
            <a:fillRect/>
          </a:stretch>
        </p:blipFill>
        <p:spPr>
          <a:xfrm>
            <a:off x="6172200" y="1732661"/>
            <a:ext cx="5470855" cy="140016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603504"/>
            <a:ext cx="11094415" cy="731520"/>
          </a:xfrm>
          <a:prstGeom prst="rect">
            <a:avLst/>
          </a:prstGeom>
          <a:noFill/>
        </p:spPr>
        <p:txBody>
          <a:bodyPr wrap="square" lIns="0" tIns="0" rIns="0" bIns="0" anchor="t">
            <a:spAutoFit/>
          </a:bodyPr>
          <a:lstStyle/>
          <a:p>
            <a:r>
              <a:rPr sz="2800" b="1" i="0">
                <a:solidFill>
                  <a:srgbClr val="14233F"/>
                </a:solidFill>
                <a:latin typeface="Cambria"/>
              </a:rPr>
              <a:t>Conclusion</a:t>
            </a:r>
          </a:p>
        </p:txBody>
      </p:sp>
      <p:sp>
        <p:nvSpPr>
          <p:cNvPr id="3" name="Footer"/>
          <p:cNvSpPr txBox="1"/>
          <p:nvPr/>
        </p:nvSpPr>
        <p:spPr>
          <a:xfrm>
            <a:off x="548640" y="6446520"/>
            <a:ext cx="5486400" cy="228600"/>
          </a:xfrm>
          <a:prstGeom prst="rect">
            <a:avLst/>
          </a:prstGeom>
          <a:noFill/>
        </p:spPr>
        <p:txBody>
          <a:bodyPr wrap="square" lIns="0" tIns="0" rIns="0" bIns="0" anchor="t">
            <a:spAutoFit/>
          </a:bodyPr>
          <a:lstStyle/>
          <a:p>
            <a:r>
              <a:rPr sz="1000" b="0" i="0">
                <a:solidFill>
                  <a:srgbClr val="6B7585"/>
                </a:solidFill>
                <a:latin typeface="Calibri"/>
              </a:rPr>
              <a:t>DBMS Case Study  |  Review 1</a:t>
            </a:r>
          </a:p>
        </p:txBody>
      </p:sp>
      <p:sp>
        <p:nvSpPr>
          <p:cNvPr id="4" name="Slide number"/>
          <p:cNvSpPr txBox="1"/>
          <p:nvPr/>
        </p:nvSpPr>
        <p:spPr>
          <a:xfrm>
            <a:off x="10728655" y="6446520"/>
            <a:ext cx="914400" cy="228600"/>
          </a:xfrm>
          <a:prstGeom prst="rect">
            <a:avLst/>
          </a:prstGeom>
          <a:noFill/>
        </p:spPr>
        <p:txBody>
          <a:bodyPr wrap="square" lIns="0" tIns="0" rIns="0" bIns="0" anchor="t">
            <a:spAutoFit/>
          </a:bodyPr>
          <a:lstStyle/>
          <a:p>
            <a:pPr algn="r"/>
            <a:r>
              <a:rPr sz="1000" b="0" i="0">
                <a:solidFill>
                  <a:srgbClr val="6B7585"/>
                </a:solidFill>
                <a:latin typeface="Calibri"/>
              </a:rPr>
              <a:t>45</a:t>
            </a:r>
          </a:p>
        </p:txBody>
      </p:sp>
      <p:sp>
        <p:nvSpPr>
          <p:cNvPr id="5" name="TextBox 4"/>
          <p:cNvSpPr txBox="1"/>
          <p:nvPr/>
        </p:nvSpPr>
        <p:spPr>
          <a:xfrm>
            <a:off x="548640" y="1481328"/>
            <a:ext cx="5364327" cy="3924151"/>
          </a:xfrm>
          <a:prstGeom prst="rect">
            <a:avLst/>
          </a:prstGeom>
          <a:noFill/>
        </p:spPr>
        <p:txBody>
          <a:bodyPr wrap="square" lIns="0" tIns="0" rIns="0" bIns="0" anchor="t">
            <a:spAutoFit/>
          </a:bodyPr>
          <a:lstStyle/>
          <a:p>
            <a:r>
              <a:rPr sz="1500" b="0" i="0" dirty="0">
                <a:solidFill>
                  <a:srgbClr val="263040"/>
                </a:solidFill>
                <a:latin typeface="Calibri"/>
              </a:rPr>
              <a:t>This case study successfully demonstrates the design and implementation of a relational database for a digital payment processing and reconciliation system using Oracle SQL. It covers the fundamental stages of database development, including problem and domain analysis, requirement identification, stakeholder analysis, business rules, entity identification, attribute specification, key definition, and ER diagram design. The database implementation demonstrates DDL commands such as CREATE, ALTER, and DROP, along with integrity constraints including PRIMARY KEY, FOREIGN KEY, UNIQUE, NOT NULL, CHECK, and DEFAULT to maintain data accuracy and consistency. DML commands such as INSERT, UPDATE, and DELETE are used to manage database records effectively.</a:t>
            </a:r>
            <a:endParaRPr lang="en-IN" sz="1500" b="0" i="0" dirty="0">
              <a:solidFill>
                <a:srgbClr val="263040"/>
              </a:solidFill>
              <a:latin typeface="Calibri"/>
            </a:endParaRPr>
          </a:p>
          <a:p>
            <a:endParaRPr lang="en-IN" sz="1500" dirty="0">
              <a:solidFill>
                <a:srgbClr val="263040"/>
              </a:solidFill>
              <a:latin typeface="Calibri"/>
            </a:endParaRPr>
          </a:p>
          <a:p>
            <a:endParaRPr lang="en-IN" sz="1500" b="0" i="0" dirty="0">
              <a:solidFill>
                <a:srgbClr val="263040"/>
              </a:solidFill>
              <a:latin typeface="Calibri"/>
            </a:endParaRPr>
          </a:p>
          <a:p>
            <a:endParaRPr lang="en-IN" sz="1500" dirty="0">
              <a:solidFill>
                <a:srgbClr val="263040"/>
              </a:solidFill>
              <a:latin typeface="Calibri"/>
            </a:endParaRPr>
          </a:p>
          <a:p>
            <a:endParaRPr lang="en-IN" sz="1500" b="0" i="0" dirty="0">
              <a:solidFill>
                <a:srgbClr val="263040"/>
              </a:solidFill>
              <a:latin typeface="Calibri"/>
            </a:endParaRPr>
          </a:p>
          <a:p>
            <a:endParaRPr lang="en-IN" sz="1500" dirty="0">
              <a:solidFill>
                <a:srgbClr val="263040"/>
              </a:solidFill>
              <a:latin typeface="Calibri"/>
            </a:endParaRPr>
          </a:p>
        </p:txBody>
      </p:sp>
      <p:sp>
        <p:nvSpPr>
          <p:cNvPr id="6" name="TextBox 5"/>
          <p:cNvSpPr txBox="1"/>
          <p:nvPr/>
        </p:nvSpPr>
        <p:spPr>
          <a:xfrm>
            <a:off x="6278727" y="1481328"/>
            <a:ext cx="5364327" cy="715518"/>
          </a:xfrm>
          <a:prstGeom prst="rect">
            <a:avLst/>
          </a:prstGeom>
          <a:noFill/>
        </p:spPr>
        <p:txBody>
          <a:bodyPr wrap="square" lIns="0" tIns="0" rIns="0" bIns="0" anchor="t">
            <a:spAutoFit/>
          </a:bodyPr>
          <a:lstStyle/>
          <a:p>
            <a:r>
              <a:rPr sz="1500" b="0" i="0">
                <a:solidFill>
                  <a:srgbClr val="263040"/>
                </a:solidFill>
                <a:latin typeface="Calibri"/>
              </a:rPr>
              <a:t>Furthermore, single- row functions, SQL operators, and group functions are applied to format data, perform calculations, filter transactions, and generate meaningful summaries.</a:t>
            </a:r>
          </a:p>
        </p:txBody>
      </p:sp>
      <p:sp>
        <p:nvSpPr>
          <p:cNvPr id="7" name="TextBox 6"/>
          <p:cNvSpPr txBox="1"/>
          <p:nvPr/>
        </p:nvSpPr>
        <p:spPr>
          <a:xfrm>
            <a:off x="6278727" y="2288286"/>
            <a:ext cx="5364327" cy="3693319"/>
          </a:xfrm>
          <a:prstGeom prst="rect">
            <a:avLst/>
          </a:prstGeom>
          <a:noFill/>
        </p:spPr>
        <p:txBody>
          <a:bodyPr wrap="square" lIns="0" tIns="0" rIns="0" bIns="0" anchor="t">
            <a:spAutoFit/>
          </a:bodyPr>
          <a:lstStyle/>
          <a:p>
            <a:r>
              <a:rPr sz="1500" b="0" i="0" dirty="0">
                <a:solidFill>
                  <a:srgbClr val="263040"/>
                </a:solidFill>
                <a:latin typeface="Calibri"/>
              </a:rPr>
              <a:t>Through this review, the importance of proper database design, referential integrity, and efficient SQL query processing in financial applications is established. The proposed database structure provides a foundation for managing payment transactions, maintaining consistent records, and supporting transaction analysis and reconciliation. Overall, Review 1 has strengthened the understanding of relational database concepts and their practical implementation using Oracle SQL, providing a strong foundation for the subsequent stages of the case study and the study of advanced SQL and PL/SQL concepts.</a:t>
            </a:r>
            <a:endParaRPr lang="en-IN" sz="1500" b="0" i="0" dirty="0">
              <a:solidFill>
                <a:srgbClr val="263040"/>
              </a:solidFill>
              <a:latin typeface="Calibri"/>
            </a:endParaRPr>
          </a:p>
          <a:p>
            <a:endParaRPr lang="en-IN" sz="1500" dirty="0">
              <a:solidFill>
                <a:srgbClr val="263040"/>
              </a:solidFill>
              <a:latin typeface="Calibri"/>
            </a:endParaRPr>
          </a:p>
          <a:p>
            <a:endParaRPr lang="en-IN" sz="1500" b="0" i="0" dirty="0">
              <a:solidFill>
                <a:srgbClr val="263040"/>
              </a:solidFill>
              <a:latin typeface="Calibri"/>
            </a:endParaRPr>
          </a:p>
          <a:p>
            <a:endParaRPr lang="en-IN" sz="1500" b="1" u="sng" dirty="0">
              <a:solidFill>
                <a:srgbClr val="263040"/>
              </a:solidFill>
              <a:latin typeface="Calibri"/>
            </a:endParaRPr>
          </a:p>
          <a:p>
            <a:r>
              <a:rPr lang="en-IN" sz="1500" b="1" u="sng" dirty="0">
                <a:solidFill>
                  <a:srgbClr val="263040"/>
                </a:solidFill>
              </a:rPr>
              <a:t>Case study PDF link :- </a:t>
            </a:r>
            <a:r>
              <a:rPr lang="en-IN" sz="1500" dirty="0">
                <a:solidFill>
                  <a:srgbClr val="263040"/>
                </a:solidFill>
              </a:rPr>
              <a:t>https://drive.google.com/file/d/19kPQCNkfiCL0IXipucwChaBhBWcAPozM/view?usp=sharing</a:t>
            </a:r>
            <a:endParaRPr sz="1500" b="0" i="0" dirty="0">
              <a:solidFill>
                <a:srgbClr val="26304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7275</Words>
  <Application>Microsoft Office PowerPoint</Application>
  <PresentationFormat>Widescreen</PresentationFormat>
  <Paragraphs>704</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 Case Study - Review 1</dc:title>
  <dc:subject/>
  <dc:creator/>
  <cp:keywords/>
  <dc:description>generated using python-pptx</dc:description>
  <cp:lastModifiedBy>Santha Kumar M</cp:lastModifiedBy>
  <cp:revision>2</cp:revision>
  <dcterms:created xsi:type="dcterms:W3CDTF">2013-01-27T09:14:16Z</dcterms:created>
  <dcterms:modified xsi:type="dcterms:W3CDTF">2026-10-20T18:23:39Z</dcterms:modified>
  <cp:category/>
</cp:coreProperties>
</file>